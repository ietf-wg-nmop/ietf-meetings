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4" r:id="rId1"/>
  </p:sldMasterIdLst>
  <p:notesMasterIdLst>
    <p:notesMasterId r:id="rId8"/>
  </p:notesMasterIdLst>
  <p:sldIdLst>
    <p:sldId id="276" r:id="rId2"/>
    <p:sldId id="256" r:id="rId3"/>
    <p:sldId id="259" r:id="rId4"/>
    <p:sldId id="261" r:id="rId5"/>
    <p:sldId id="278" r:id="rId6"/>
    <p:sldId id="260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4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659D06-233B-4A84-BAB1-FC917D228196}" v="7" dt="2026-03-16T00:35:04.7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4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f Thomas, SCS-INI-NET-VNC-E2E" userId="487bc3e3-9ce7-4cdd-b7b4-8899ea88d289" providerId="ADAL" clId="{ADEEF08A-D719-4B50-A383-4105EDA2C206}"/>
    <pc:docChg chg="custSel mod addSld delSld modSld">
      <pc:chgData name="Graf Thomas, SCS-INI-NET-VNC-E2E" userId="487bc3e3-9ce7-4cdd-b7b4-8899ea88d289" providerId="ADAL" clId="{ADEEF08A-D719-4B50-A383-4105EDA2C206}" dt="2026-03-16T00:37:26.842" v="43" actId="14100"/>
      <pc:docMkLst>
        <pc:docMk/>
      </pc:docMkLst>
      <pc:sldChg chg="del">
        <pc:chgData name="Graf Thomas, SCS-INI-NET-VNC-E2E" userId="487bc3e3-9ce7-4cdd-b7b4-8899ea88d289" providerId="ADAL" clId="{ADEEF08A-D719-4B50-A383-4105EDA2C206}" dt="2026-03-16T00:33:00.591" v="26" actId="47"/>
        <pc:sldMkLst>
          <pc:docMk/>
          <pc:sldMk cId="0" sldId="258"/>
        </pc:sldMkLst>
      </pc:sldChg>
      <pc:sldChg chg="add">
        <pc:chgData name="Graf Thomas, SCS-INI-NET-VNC-E2E" userId="487bc3e3-9ce7-4cdd-b7b4-8899ea88d289" providerId="ADAL" clId="{ADEEF08A-D719-4B50-A383-4105EDA2C206}" dt="2026-03-16T00:34:31.635" v="27"/>
        <pc:sldMkLst>
          <pc:docMk/>
          <pc:sldMk cId="0" sldId="259"/>
        </pc:sldMkLst>
      </pc:sldChg>
      <pc:sldChg chg="add">
        <pc:chgData name="Graf Thomas, SCS-INI-NET-VNC-E2E" userId="487bc3e3-9ce7-4cdd-b7b4-8899ea88d289" providerId="ADAL" clId="{ADEEF08A-D719-4B50-A383-4105EDA2C206}" dt="2026-03-16T00:31:09.369" v="19"/>
        <pc:sldMkLst>
          <pc:docMk/>
          <pc:sldMk cId="0" sldId="260"/>
        </pc:sldMkLst>
      </pc:sldChg>
      <pc:sldChg chg="modSp add mod">
        <pc:chgData name="Graf Thomas, SCS-INI-NET-VNC-E2E" userId="487bc3e3-9ce7-4cdd-b7b4-8899ea88d289" providerId="ADAL" clId="{ADEEF08A-D719-4B50-A383-4105EDA2C206}" dt="2026-03-16T00:34:54.732" v="33" actId="20577"/>
        <pc:sldMkLst>
          <pc:docMk/>
          <pc:sldMk cId="3471097262" sldId="261"/>
        </pc:sldMkLst>
        <pc:spChg chg="mod">
          <ac:chgData name="Graf Thomas, SCS-INI-NET-VNC-E2E" userId="487bc3e3-9ce7-4cdd-b7b4-8899ea88d289" providerId="ADAL" clId="{ADEEF08A-D719-4B50-A383-4105EDA2C206}" dt="2026-03-16T00:34:54.732" v="33" actId="20577"/>
          <ac:spMkLst>
            <pc:docMk/>
            <pc:sldMk cId="3471097262" sldId="261"/>
            <ac:spMk id="3" creationId="{DA4A6F5D-9442-B583-BAB9-5A102B90EC22}"/>
          </ac:spMkLst>
        </pc:spChg>
      </pc:sldChg>
      <pc:sldChg chg="modSp mod">
        <pc:chgData name="Graf Thomas, SCS-INI-NET-VNC-E2E" userId="487bc3e3-9ce7-4cdd-b7b4-8899ea88d289" providerId="ADAL" clId="{ADEEF08A-D719-4B50-A383-4105EDA2C206}" dt="2026-03-16T00:36:34.969" v="36" actId="20577"/>
        <pc:sldMkLst>
          <pc:docMk/>
          <pc:sldMk cId="0" sldId="276"/>
        </pc:sldMkLst>
        <pc:spChg chg="mod">
          <ac:chgData name="Graf Thomas, SCS-INI-NET-VNC-E2E" userId="487bc3e3-9ce7-4cdd-b7b4-8899ea88d289" providerId="ADAL" clId="{ADEEF08A-D719-4B50-A383-4105EDA2C206}" dt="2026-03-16T00:36:24.521" v="34" actId="20577"/>
          <ac:spMkLst>
            <pc:docMk/>
            <pc:sldMk cId="0" sldId="276"/>
            <ac:spMk id="99" creationId="{00000000-0000-0000-0000-000000000000}"/>
          </ac:spMkLst>
        </pc:spChg>
        <pc:spChg chg="mod">
          <ac:chgData name="Graf Thomas, SCS-INI-NET-VNC-E2E" userId="487bc3e3-9ce7-4cdd-b7b4-8899ea88d289" providerId="ADAL" clId="{ADEEF08A-D719-4B50-A383-4105EDA2C206}" dt="2026-03-16T00:36:34.969" v="36" actId="20577"/>
          <ac:spMkLst>
            <pc:docMk/>
            <pc:sldMk cId="0" sldId="276"/>
            <ac:spMk id="100" creationId="{00000000-0000-0000-0000-000000000000}"/>
          </ac:spMkLst>
        </pc:spChg>
      </pc:sldChg>
      <pc:sldChg chg="del">
        <pc:chgData name="Graf Thomas, SCS-INI-NET-VNC-E2E" userId="487bc3e3-9ce7-4cdd-b7b4-8899ea88d289" providerId="ADAL" clId="{ADEEF08A-D719-4B50-A383-4105EDA2C206}" dt="2026-03-16T00:30:25.888" v="18" actId="47"/>
        <pc:sldMkLst>
          <pc:docMk/>
          <pc:sldMk cId="4020374104" sldId="277"/>
        </pc:sldMkLst>
      </pc:sldChg>
      <pc:sldChg chg="addSp delSp modSp mod">
        <pc:chgData name="Graf Thomas, SCS-INI-NET-VNC-E2E" userId="487bc3e3-9ce7-4cdd-b7b4-8899ea88d289" providerId="ADAL" clId="{ADEEF08A-D719-4B50-A383-4105EDA2C206}" dt="2026-03-16T00:37:26.842" v="43" actId="14100"/>
        <pc:sldMkLst>
          <pc:docMk/>
          <pc:sldMk cId="3873870168" sldId="278"/>
        </pc:sldMkLst>
        <pc:spChg chg="mod">
          <ac:chgData name="Graf Thomas, SCS-INI-NET-VNC-E2E" userId="487bc3e3-9ce7-4cdd-b7b4-8899ea88d289" providerId="ADAL" clId="{ADEEF08A-D719-4B50-A383-4105EDA2C206}" dt="2026-03-16T00:36:42.668" v="37" actId="20577"/>
          <ac:spMkLst>
            <pc:docMk/>
            <pc:sldMk cId="3873870168" sldId="278"/>
            <ac:spMk id="69" creationId="{3A862EC5-80EE-D0BE-6950-881788CE728B}"/>
          </ac:spMkLst>
        </pc:spChg>
        <pc:picChg chg="del">
          <ac:chgData name="Graf Thomas, SCS-INI-NET-VNC-E2E" userId="487bc3e3-9ce7-4cdd-b7b4-8899ea88d289" providerId="ADAL" clId="{ADEEF08A-D719-4B50-A383-4105EDA2C206}" dt="2026-03-16T00:29:35.280" v="14" actId="478"/>
          <ac:picMkLst>
            <pc:docMk/>
            <pc:sldMk cId="3873870168" sldId="278"/>
            <ac:picMk id="3" creationId="{1FE22749-978F-230A-2C82-B42414055769}"/>
          </ac:picMkLst>
        </pc:picChg>
        <pc:picChg chg="add mod">
          <ac:chgData name="Graf Thomas, SCS-INI-NET-VNC-E2E" userId="487bc3e3-9ce7-4cdd-b7b4-8899ea88d289" providerId="ADAL" clId="{ADEEF08A-D719-4B50-A383-4105EDA2C206}" dt="2026-03-16T00:37:26.842" v="43" actId="14100"/>
          <ac:picMkLst>
            <pc:docMk/>
            <pc:sldMk cId="3873870168" sldId="278"/>
            <ac:picMk id="4" creationId="{AC6955B4-71A4-9EF4-4AD6-91AE6F68C1F1}"/>
          </ac:picMkLst>
        </pc:picChg>
        <pc:picChg chg="add del mod">
          <ac:chgData name="Graf Thomas, SCS-INI-NET-VNC-E2E" userId="487bc3e3-9ce7-4cdd-b7b4-8899ea88d289" providerId="ADAL" clId="{ADEEF08A-D719-4B50-A383-4105EDA2C206}" dt="2026-03-16T00:37:11.429" v="38" actId="478"/>
          <ac:picMkLst>
            <pc:docMk/>
            <pc:sldMk cId="3873870168" sldId="278"/>
            <ac:picMk id="5" creationId="{0A3BAF73-6291-808C-D649-3286010A1023}"/>
          </ac:picMkLst>
        </pc:picChg>
      </pc:sldChg>
      <pc:sldChg chg="modSp del mod">
        <pc:chgData name="Graf Thomas, SCS-INI-NET-VNC-E2E" userId="487bc3e3-9ce7-4cdd-b7b4-8899ea88d289" providerId="ADAL" clId="{ADEEF08A-D719-4B50-A383-4105EDA2C206}" dt="2026-03-16T00:34:34.267" v="28" actId="47"/>
        <pc:sldMkLst>
          <pc:docMk/>
          <pc:sldMk cId="1619678016" sldId="280"/>
        </pc:sldMkLst>
        <pc:spChg chg="mod">
          <ac:chgData name="Graf Thomas, SCS-INI-NET-VNC-E2E" userId="487bc3e3-9ce7-4cdd-b7b4-8899ea88d289" providerId="ADAL" clId="{ADEEF08A-D719-4B50-A383-4105EDA2C206}" dt="2026-03-16T00:26:20.766" v="13" actId="20577"/>
          <ac:spMkLst>
            <pc:docMk/>
            <pc:sldMk cId="1619678016" sldId="280"/>
            <ac:spMk id="69" creationId="{E1870915-5CC2-61FE-6865-3145DCF074BE}"/>
          </ac:spMkLst>
        </pc:spChg>
      </pc:sldChg>
      <pc:sldChg chg="add del">
        <pc:chgData name="Graf Thomas, SCS-INI-NET-VNC-E2E" userId="487bc3e3-9ce7-4cdd-b7b4-8899ea88d289" providerId="ADAL" clId="{ADEEF08A-D719-4B50-A383-4105EDA2C206}" dt="2026-03-16T00:32:58.385" v="25"/>
        <pc:sldMkLst>
          <pc:docMk/>
          <pc:sldMk cId="0" sldId="281"/>
        </pc:sldMkLst>
      </pc:sldChg>
      <pc:sldChg chg="delSp add del mod">
        <pc:chgData name="Graf Thomas, SCS-INI-NET-VNC-E2E" userId="487bc3e3-9ce7-4cdd-b7b4-8899ea88d289" providerId="ADAL" clId="{ADEEF08A-D719-4B50-A383-4105EDA2C206}" dt="2026-03-16T00:32:51.261" v="24" actId="47"/>
        <pc:sldMkLst>
          <pc:docMk/>
          <pc:sldMk cId="609936168" sldId="281"/>
        </pc:sldMkLst>
        <pc:picChg chg="del">
          <ac:chgData name="Graf Thomas, SCS-INI-NET-VNC-E2E" userId="487bc3e3-9ce7-4cdd-b7b4-8899ea88d289" providerId="ADAL" clId="{ADEEF08A-D719-4B50-A383-4105EDA2C206}" dt="2026-03-16T00:32:34.879" v="23" actId="478"/>
          <ac:picMkLst>
            <pc:docMk/>
            <pc:sldMk cId="609936168" sldId="281"/>
            <ac:picMk id="71" creationId="{F8BD4ADA-9CD0-55D7-76AE-75E246A971E0}"/>
          </ac:picMkLst>
        </pc:picChg>
      </pc:sldChg>
      <pc:sldChg chg="del">
        <pc:chgData name="Graf Thomas, SCS-INI-NET-VNC-E2E" userId="487bc3e3-9ce7-4cdd-b7b4-8899ea88d289" providerId="ADAL" clId="{ADEEF08A-D719-4B50-A383-4105EDA2C206}" dt="2026-03-16T00:30:25.888" v="18" actId="47"/>
        <pc:sldMkLst>
          <pc:docMk/>
          <pc:sldMk cId="1293646540" sldId="281"/>
        </pc:sldMkLst>
      </pc:sldChg>
      <pc:sldChg chg="del">
        <pc:chgData name="Graf Thomas, SCS-INI-NET-VNC-E2E" userId="487bc3e3-9ce7-4cdd-b7b4-8899ea88d289" providerId="ADAL" clId="{ADEEF08A-D719-4B50-A383-4105EDA2C206}" dt="2026-03-16T00:30:25.888" v="18" actId="47"/>
        <pc:sldMkLst>
          <pc:docMk/>
          <pc:sldMk cId="1765196037" sldId="282"/>
        </pc:sldMkLst>
      </pc:sldChg>
      <pc:sldChg chg="del">
        <pc:chgData name="Graf Thomas, SCS-INI-NET-VNC-E2E" userId="487bc3e3-9ce7-4cdd-b7b4-8899ea88d289" providerId="ADAL" clId="{ADEEF08A-D719-4B50-A383-4105EDA2C206}" dt="2026-03-16T00:30:25.888" v="18" actId="47"/>
        <pc:sldMkLst>
          <pc:docMk/>
          <pc:sldMk cId="385604894" sldId="283"/>
        </pc:sldMkLst>
      </pc:sldChg>
      <pc:sldMasterChg chg="delSldLayout">
        <pc:chgData name="Graf Thomas, SCS-INI-NET-VNC-E2E" userId="487bc3e3-9ce7-4cdd-b7b4-8899ea88d289" providerId="ADAL" clId="{ADEEF08A-D719-4B50-A383-4105EDA2C206}" dt="2026-03-16T00:33:00.591" v="26" actId="47"/>
        <pc:sldMasterMkLst>
          <pc:docMk/>
          <pc:sldMasterMk cId="0" sldId="2147483664"/>
        </pc:sldMasterMkLst>
        <pc:sldLayoutChg chg="del">
          <pc:chgData name="Graf Thomas, SCS-INI-NET-VNC-E2E" userId="487bc3e3-9ce7-4cdd-b7b4-8899ea88d289" providerId="ADAL" clId="{ADEEF08A-D719-4B50-A383-4105EDA2C206}" dt="2026-03-16T00:30:25.888" v="18" actId="47"/>
          <pc:sldLayoutMkLst>
            <pc:docMk/>
            <pc:sldMasterMk cId="0" sldId="2147483664"/>
            <pc:sldLayoutMk cId="0" sldId="2147483649"/>
          </pc:sldLayoutMkLst>
        </pc:sldLayoutChg>
        <pc:sldLayoutChg chg="del">
          <pc:chgData name="Graf Thomas, SCS-INI-NET-VNC-E2E" userId="487bc3e3-9ce7-4cdd-b7b4-8899ea88d289" providerId="ADAL" clId="{ADEEF08A-D719-4B50-A383-4105EDA2C206}" dt="2026-03-16T00:33:00.591" v="26" actId="47"/>
          <pc:sldLayoutMkLst>
            <pc:docMk/>
            <pc:sldMasterMk cId="0" sldId="2147483664"/>
            <pc:sldLayoutMk cId="545161684" sldId="2147483666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meeting/120/materials/slides-120-eodir-sessb-note-well-dos-and-donts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meeting/120/materials/slides-120-eodir-sessb-note-well-dos-and-donts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7179d949db_7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7179d949db_7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2424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IETF Note Well should be shown at the start of every IETF working session. The guidance below is </a:t>
            </a:r>
            <a:r>
              <a:rPr lang="en-US" sz="1200" u="sng">
                <a:solidFill>
                  <a:srgbClr val="1976D2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adapted from IETF legal counsel presentation during IETF 120</a:t>
            </a:r>
            <a:endParaRPr sz="1200">
              <a:solidFill>
                <a:srgbClr val="1B5E20"/>
              </a:solidFill>
              <a:highlight>
                <a:srgbClr val="E8F5E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1B5E20"/>
              </a:solidFill>
              <a:highlight>
                <a:srgbClr val="E8F5E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B5E20"/>
                </a:solidFill>
                <a:highlight>
                  <a:srgbClr val="E8F5E9"/>
                </a:highlight>
                <a:latin typeface="Roboto"/>
                <a:ea typeface="Roboto"/>
                <a:cs typeface="Roboto"/>
                <a:sym typeface="Roboto"/>
              </a:rPr>
              <a:t>DO</a:t>
            </a:r>
            <a:endParaRPr sz="1200">
              <a:solidFill>
                <a:srgbClr val="1B5E20"/>
              </a:solidFill>
              <a:highlight>
                <a:srgbClr val="E8F5E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make sure people have enough time to read through the slide before you move on,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give a high-level summary of what’s covered in the Note Well: “IETF policies on conduct, privacy and IPR.”,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encourage people to read through all the linked policies &amp; documents in detail before participating or contributing,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explain where people can direct questions or concerns (IETF Executive Director or Ombudsteam).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B33F00"/>
                </a:solidFill>
                <a:highlight>
                  <a:srgbClr val="FFF3E0"/>
                </a:highlight>
                <a:latin typeface="Roboto"/>
                <a:ea typeface="Roboto"/>
                <a:cs typeface="Roboto"/>
                <a:sym typeface="Roboto"/>
              </a:rPr>
              <a:t>DON'T</a:t>
            </a:r>
            <a:endParaRPr sz="1200">
              <a:solidFill>
                <a:srgbClr val="B33F00"/>
              </a:solidFill>
              <a:highlight>
                <a:srgbClr val="FFF3E0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dismiss the importance or relevance of any of the information on the Note Well.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interpret the meaning or get into the substance of any of the topics or content of the policies.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communicate that the Note Well conveys all the information participants need to know.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address questions or concerns in the meeting itself.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a9a795ffb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ga9a795ffbb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23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C501353B-1DE2-126C-2436-25310EEDE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7179d949db_7_60:notes">
            <a:extLst>
              <a:ext uri="{FF2B5EF4-FFF2-40B4-BE49-F238E27FC236}">
                <a16:creationId xmlns:a16="http://schemas.microsoft.com/office/drawing/2014/main" id="{E6A6B4E0-F8A0-1267-D6B2-FF10454B10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7179d949db_7_60:notes">
            <a:extLst>
              <a:ext uri="{FF2B5EF4-FFF2-40B4-BE49-F238E27FC236}">
                <a16:creationId xmlns:a16="http://schemas.microsoft.com/office/drawing/2014/main" id="{0353B784-13AB-227A-A05F-86EA1838AF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2424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IETF Note Well should be shown at the start of every IETF working session. The guidance below is </a:t>
            </a:r>
            <a:r>
              <a:rPr lang="en-US" sz="1200" u="sng">
                <a:solidFill>
                  <a:srgbClr val="1976D2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adapted from IETF legal counsel presentation during IETF 120</a:t>
            </a:r>
            <a:endParaRPr sz="1200">
              <a:solidFill>
                <a:srgbClr val="1B5E20"/>
              </a:solidFill>
              <a:highlight>
                <a:srgbClr val="E8F5E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1B5E20"/>
              </a:solidFill>
              <a:highlight>
                <a:srgbClr val="E8F5E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B5E20"/>
                </a:solidFill>
                <a:highlight>
                  <a:srgbClr val="E8F5E9"/>
                </a:highlight>
                <a:latin typeface="Roboto"/>
                <a:ea typeface="Roboto"/>
                <a:cs typeface="Roboto"/>
                <a:sym typeface="Roboto"/>
              </a:rPr>
              <a:t>DO</a:t>
            </a:r>
            <a:endParaRPr sz="1200">
              <a:solidFill>
                <a:srgbClr val="1B5E20"/>
              </a:solidFill>
              <a:highlight>
                <a:srgbClr val="E8F5E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make sure people have enough time to read through the slide before you move on,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give a high-level summary of what’s covered in the Note Well: “IETF policies on conduct, privacy and IPR.”,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encourage people to read through all the linked policies &amp; documents in detail before participating or contributing,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explain where people can direct questions or concerns (IETF Executive Director or Ombudsteam).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B33F00"/>
                </a:solidFill>
                <a:highlight>
                  <a:srgbClr val="FFF3E0"/>
                </a:highlight>
                <a:latin typeface="Roboto"/>
                <a:ea typeface="Roboto"/>
                <a:cs typeface="Roboto"/>
                <a:sym typeface="Roboto"/>
              </a:rPr>
              <a:t>DON'T</a:t>
            </a:r>
            <a:endParaRPr sz="1200">
              <a:solidFill>
                <a:srgbClr val="B33F00"/>
              </a:solidFill>
              <a:highlight>
                <a:srgbClr val="FFF3E0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dismiss the importance or relevance of any of the information on the Note Well.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interpret the meaning or get into the substance of any of the topics or content of the policies.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communicate that the Note Well conveys all the information participants need to know.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address questions or concerns in the meeting itself.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55132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71a2a6c778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g71a2a6c778_0_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rgbClr val="002D3C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754464" y="2104950"/>
            <a:ext cx="7635072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Inter"/>
              <a:buNone/>
              <a:defRPr sz="4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125" y="4147975"/>
            <a:ext cx="9144001" cy="9957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2" descr="Shape 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40438" y="4312261"/>
            <a:ext cx="1256176" cy="66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 type="secHead">
  <p:cSld name="SECTION_HEADER">
    <p:bg>
      <p:bgPr>
        <a:solidFill>
          <a:srgbClr val="002D3C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TWO_COLUMNS" type="twoColTx">
  <p:cSld name="TITLE_AND_TWO_COLUMNS">
    <p:bg>
      <p:bgPr>
        <a:solidFill>
          <a:srgbClr val="002D3C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"/>
          <p:cNvSpPr/>
          <p:nvPr/>
        </p:nvSpPr>
        <p:spPr>
          <a:xfrm>
            <a:off x="0" y="1685999"/>
            <a:ext cx="9144000" cy="108601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71900" y="1919074"/>
            <a:ext cx="3999901" cy="2710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Char char="●"/>
              <a:defRPr sz="140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Char char="○"/>
              <a:defRPr sz="140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Char char="■"/>
              <a:defRPr sz="140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Char char="●"/>
              <a:defRPr sz="140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Char char="○"/>
              <a:defRPr sz="140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694249" y="1919074"/>
            <a:ext cx="3999901" cy="2710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in title" type="titleOnly">
  <p:cSld name="TITLE_ONLY">
    <p:bg>
      <p:bgPr>
        <a:solidFill>
          <a:srgbClr val="002D3C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 rot="10800000" flipH="1">
            <a:off x="0" y="770474"/>
            <a:ext cx="9144000" cy="438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158699" y="61427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  <a:defRPr sz="24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460950" y="1001775"/>
            <a:ext cx="8222100" cy="37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9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" type="tx">
  <p:cSld name="TITLE_AND_BODY">
    <p:bg>
      <p:bgPr>
        <a:solidFill>
          <a:srgbClr val="002D3C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0" y="1685999"/>
            <a:ext cx="9144000" cy="108601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471900" y="218223"/>
            <a:ext cx="8222100" cy="1288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/>
              <a:buNone/>
              <a:defRPr sz="36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471900" y="1919074"/>
            <a:ext cx="8222100" cy="2710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0378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9AD4C"/>
          </p15:clr>
        </p15:guide>
        <p15:guide id="2" pos="2880">
          <p15:clr>
            <a:srgbClr val="F9AD4C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063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○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○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○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67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notes.ietf.org/notes-ietf-126-nmop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meeting/agenda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://www.ietf.org/how/meetings/issues/" TargetMode="External"/><Relationship Id="rId4" Type="http://schemas.openxmlformats.org/officeDocument/2006/relationships/hyperlink" Target="https://www.ietf.org/how/meetings/prepara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xfrm>
            <a:off x="754475" y="1217444"/>
            <a:ext cx="76350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Open Sans"/>
              <a:buNone/>
            </a:pPr>
            <a:r>
              <a:rPr lang="en-US" sz="3600" dirty="0">
                <a:latin typeface="Inter"/>
                <a:ea typeface="Inter"/>
                <a:cs typeface="Inter"/>
                <a:sym typeface="Inter"/>
              </a:rPr>
              <a:t>Network Management Operations (</a:t>
            </a:r>
            <a:r>
              <a:rPr lang="en-US" sz="3600" dirty="0" err="1">
                <a:latin typeface="Inter"/>
                <a:ea typeface="Inter"/>
                <a:cs typeface="Inter"/>
                <a:sym typeface="Inter"/>
              </a:rPr>
              <a:t>nmop</a:t>
            </a:r>
            <a:r>
              <a:rPr lang="en-US" sz="3600" dirty="0">
                <a:latin typeface="Inter"/>
                <a:ea typeface="Inter"/>
                <a:cs typeface="Inter"/>
                <a:sym typeface="Inter"/>
              </a:rPr>
              <a:t>) WG – Session 2</a:t>
            </a:r>
            <a:endParaRPr sz="3600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754475" y="2201927"/>
            <a:ext cx="4986900" cy="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</a:pPr>
            <a:r>
              <a:rPr lang="en-US" sz="2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IETF 126, July 23rd, 2026</a:t>
            </a:r>
            <a:endParaRPr sz="1100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294650" y="4322350"/>
            <a:ext cx="3783600" cy="4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Inter"/>
                <a:ea typeface="Inter"/>
                <a:cs typeface="Inter"/>
                <a:sym typeface="Inter"/>
              </a:rPr>
              <a:t>Internet Engineering Task Force</a:t>
            </a:r>
            <a:endParaRPr sz="1200" dirty="0"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Inter"/>
                <a:ea typeface="Inter"/>
                <a:cs typeface="Inter"/>
                <a:sym typeface="Inter"/>
              </a:rPr>
              <a:t>© 2026 IETF Trust </a:t>
            </a:r>
            <a:endParaRPr sz="1200" dirty="0"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Inter"/>
                <a:ea typeface="Inter"/>
                <a:cs typeface="Inter"/>
                <a:sym typeface="Inter"/>
              </a:rPr>
              <a:t>Production by </a:t>
            </a:r>
            <a:r>
              <a:rPr lang="en-US" sz="1200" dirty="0" err="1">
                <a:latin typeface="Inter"/>
                <a:ea typeface="Inter"/>
                <a:cs typeface="Inter"/>
                <a:sym typeface="Inter"/>
              </a:rPr>
              <a:t>Meetecho</a:t>
            </a:r>
            <a:endParaRPr sz="1200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754475" y="3414667"/>
            <a:ext cx="5724900" cy="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2CC"/>
                </a:solidFill>
                <a:latin typeface="Inter"/>
                <a:ea typeface="Inter"/>
                <a:cs typeface="Inter"/>
                <a:sym typeface="Inter"/>
              </a:rPr>
              <a:t>This session is being recorded</a:t>
            </a:r>
            <a:endParaRPr sz="2400" dirty="0">
              <a:solidFill>
                <a:srgbClr val="FFF2C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" name="Google Shape;100;p19">
            <a:extLst>
              <a:ext uri="{FF2B5EF4-FFF2-40B4-BE49-F238E27FC236}">
                <a16:creationId xmlns:a16="http://schemas.microsoft.com/office/drawing/2014/main" id="{87CFB194-3778-2C13-73F3-088D1012F1B1}"/>
              </a:ext>
            </a:extLst>
          </p:cNvPr>
          <p:cNvSpPr txBox="1"/>
          <p:nvPr/>
        </p:nvSpPr>
        <p:spPr>
          <a:xfrm>
            <a:off x="783511" y="2913334"/>
            <a:ext cx="6331663" cy="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</a:pPr>
            <a:r>
              <a:rPr lang="en-US" sz="2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WG Chairs: B. Claise, R. Rahman</a:t>
            </a:r>
            <a:endParaRPr sz="1100" dirty="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/>
        </p:nvSpPr>
        <p:spPr>
          <a:xfrm>
            <a:off x="311700" y="740167"/>
            <a:ext cx="8520600" cy="41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By participating in the IETF you agree to follow IETF processes and policies. This Note Well is a reminder </a:t>
            </a:r>
            <a:b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of some of those policies. For a linked version of this text, please visit </a:t>
            </a:r>
            <a:r>
              <a:rPr lang="en-US" sz="1200" i="1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www.ietf.org</a:t>
            </a:r>
            <a:r>
              <a:rPr lang="en-US" sz="1200" i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/note-well </a:t>
            </a: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or use the QR code below.</a:t>
            </a:r>
            <a:endParaRPr sz="12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71450" lvl="0" indent="-1714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IETF participants are expected to behave in a professional manner and extend respect and courtesy to their colleagues at all times (see </a:t>
            </a:r>
            <a:r>
              <a:rPr lang="en-US" sz="1200" i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RFC 7154: IETF Guidelines for Conduct and IETF Anti-Harassment Policy</a:t>
            </a: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). If you have any concerns about behavior, please contact the </a:t>
            </a:r>
            <a:r>
              <a:rPr lang="en-US" sz="1200" i="1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Ombudsteam</a:t>
            </a: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who have a duty of confidentiality and extensive powers to act, as set out in </a:t>
            </a:r>
            <a:r>
              <a:rPr lang="en-US" sz="1200" i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RFC 7776: IETF Anti-Harassment Procedures</a:t>
            </a: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2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71450" lvl="0" indent="-1714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If you are aware that any IETF contribution (as defined in </a:t>
            </a:r>
            <a:r>
              <a:rPr lang="en-US" sz="1200" i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RFC 5378: Rights Contributors Provide to the IETF Trust</a:t>
            </a: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 is covered by patents or patent applications that are owned or controlled by you, your employer or your sponsor, you must disclose that fact, or not participate in the discussion </a:t>
            </a:r>
            <a:b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(see </a:t>
            </a:r>
            <a:r>
              <a:rPr lang="en-US" sz="1200" i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RFC 8179: Intellectual Property Rights in IETF Technology</a:t>
            </a: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sz="12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71450" lvl="0" indent="-1714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For detailed process information consult </a:t>
            </a:r>
            <a:r>
              <a:rPr lang="en-US" sz="1200" i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RFC 2026: Internet Standards Process </a:t>
            </a: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and </a:t>
            </a:r>
            <a:b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i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RFC 2418: IETF Working Group Guidelines and Procedures </a:t>
            </a: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and updates to those.</a:t>
            </a:r>
            <a:endParaRPr sz="12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71450" lvl="0" indent="-1714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IETF routinely makes public written, audio, video, and photographic records </a:t>
            </a:r>
            <a:b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of IETF activities, including your personal information as set out in the </a:t>
            </a:r>
            <a:r>
              <a:rPr lang="en-US" sz="1200" i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IETF Privacy Statement</a:t>
            </a: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endParaRPr sz="12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For advice, please talk to Working Group chairs or Area Directors.</a:t>
            </a:r>
            <a:endParaRPr sz="1200" dirty="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pen Sans SemiBold"/>
              <a:buNone/>
            </a:pPr>
            <a:r>
              <a:rPr lang="en-US" sz="2400" dirty="0">
                <a:latin typeface="Inter"/>
                <a:ea typeface="Inter"/>
                <a:cs typeface="Inter"/>
                <a:sym typeface="Inter"/>
              </a:rPr>
              <a:t>Note Well</a:t>
            </a:r>
            <a:endParaRPr sz="2400" i="0" u="none" strike="noStrike" cap="none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1" name="Google Shape;71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9875" y="3038675"/>
            <a:ext cx="1383300" cy="1383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3BCE52-5DE2-CE25-66E0-0614F20563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>
            <a:spLocks noGrp="1"/>
          </p:cNvSpPr>
          <p:nvPr>
            <p:ph type="title"/>
          </p:nvPr>
        </p:nvSpPr>
        <p:spPr>
          <a:xfrm>
            <a:off x="471900" y="218223"/>
            <a:ext cx="8222100" cy="12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pen Sans"/>
              <a:buNone/>
            </a:pPr>
            <a:r>
              <a:rPr lang="en-US" dirty="0"/>
              <a:t>IETF 126 Meeting Tips</a:t>
            </a:r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20" name="Google Shape;120;p22"/>
          <p:cNvSpPr txBox="1">
            <a:spLocks noGrp="1"/>
          </p:cNvSpPr>
          <p:nvPr>
            <p:ph type="body" idx="1"/>
          </p:nvPr>
        </p:nvSpPr>
        <p:spPr>
          <a:xfrm>
            <a:off x="331800" y="1896950"/>
            <a:ext cx="8480400" cy="27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0000"/>
                </a:solidFill>
              </a:rPr>
              <a:t>In-person participants</a:t>
            </a:r>
            <a:endParaRPr lang="en-US" sz="1600" dirty="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US" sz="1600" dirty="0">
                <a:solidFill>
                  <a:srgbClr val="000000"/>
                </a:solidFill>
              </a:rPr>
              <a:t>Make sure to sign into the session via </a:t>
            </a:r>
            <a:r>
              <a:rPr lang="en-US" sz="1600" dirty="0" err="1">
                <a:solidFill>
                  <a:srgbClr val="000000"/>
                </a:solidFill>
              </a:rPr>
              <a:t>Datatracker</a:t>
            </a:r>
            <a:r>
              <a:rPr lang="en-US" sz="1600" dirty="0">
                <a:solidFill>
                  <a:srgbClr val="000000"/>
                </a:solidFill>
              </a:rPr>
              <a:t> or the QR Code in this session.</a:t>
            </a:r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US" sz="1600" dirty="0">
                <a:solidFill>
                  <a:srgbClr val="000000"/>
                </a:solidFill>
              </a:rPr>
              <a:t>Use </a:t>
            </a:r>
            <a:r>
              <a:rPr lang="en-US" sz="1600" dirty="0" err="1">
                <a:solidFill>
                  <a:srgbClr val="000000"/>
                </a:solidFill>
              </a:rPr>
              <a:t>Meetecho</a:t>
            </a:r>
            <a:r>
              <a:rPr lang="en-US" sz="1600" dirty="0">
                <a:solidFill>
                  <a:srgbClr val="000000"/>
                </a:solidFill>
              </a:rPr>
              <a:t> (usually the “</a:t>
            </a:r>
            <a:r>
              <a:rPr lang="en-US" sz="1600" dirty="0" err="1">
                <a:solidFill>
                  <a:srgbClr val="000000"/>
                </a:solidFill>
              </a:rPr>
              <a:t>Meetecho</a:t>
            </a:r>
            <a:r>
              <a:rPr lang="en-US" sz="1600" dirty="0">
                <a:solidFill>
                  <a:srgbClr val="000000"/>
                </a:solidFill>
              </a:rPr>
              <a:t> lite”) client to:</a:t>
            </a:r>
          </a:p>
          <a:p>
            <a:pPr marL="914400" lvl="1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en-US" sz="1600" dirty="0">
                <a:solidFill>
                  <a:srgbClr val="000000"/>
                </a:solidFill>
              </a:rPr>
              <a:t>join the mic queue</a:t>
            </a:r>
          </a:p>
          <a:p>
            <a:pPr marL="914400" lvl="1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en-US" sz="1600" dirty="0">
                <a:solidFill>
                  <a:srgbClr val="000000"/>
                </a:solidFill>
              </a:rPr>
              <a:t>participate in shows of hands</a:t>
            </a:r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US" sz="1600" i="1" dirty="0">
                <a:solidFill>
                  <a:srgbClr val="000000"/>
                </a:solidFill>
              </a:rPr>
              <a:t>Keep audio and video off if not using the onsite version.</a:t>
            </a:r>
            <a:endParaRPr lang="en-US" sz="1600" b="1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0000"/>
                </a:solidFill>
              </a:rPr>
              <a:t>Remote participants </a:t>
            </a:r>
            <a:endParaRPr lang="en-US" sz="1600" dirty="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US" sz="1600" dirty="0">
                <a:solidFill>
                  <a:srgbClr val="000000"/>
                </a:solidFill>
              </a:rPr>
              <a:t>Make sure your audio and video are off unless you are chairing or presenting during a session.</a:t>
            </a:r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US" sz="1600" dirty="0">
                <a:solidFill>
                  <a:srgbClr val="000000"/>
                </a:solidFill>
              </a:rPr>
              <a:t>Use of a headset is strongly recommended.</a:t>
            </a:r>
          </a:p>
        </p:txBody>
      </p:sp>
      <p:sp>
        <p:nvSpPr>
          <p:cNvPr id="121" name="Google Shape;121;p22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9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tabLst/>
              <a:defRPr/>
            </a:pPr>
            <a:fld id="{00000000-1234-1234-1234-123412341234}" type="slidenum"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Open Sans Medium"/>
                <a:ea typeface="Open Sans Medium"/>
                <a:cs typeface="Open Sans Medium"/>
                <a:sym typeface="Open Sans Medium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37373"/>
                </a:buClr>
                <a:buSzPts val="1000"/>
                <a:buFont typeface="Roboto"/>
                <a:buNone/>
                <a:tabLst/>
                <a:defRPr/>
              </a:pPr>
              <a:t>3</a:t>
            </a:fld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737373"/>
              </a:solidFill>
              <a:effectLst/>
              <a:uLnTx/>
              <a:uFillTx/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22" name="Google Shape;122;p22"/>
          <p:cNvSpPr txBox="1"/>
          <p:nvPr/>
        </p:nvSpPr>
        <p:spPr>
          <a:xfrm>
            <a:off x="1709550" y="218225"/>
            <a:ext cx="5724900" cy="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E599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This session is being recorded</a:t>
            </a:r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6950" y="2699300"/>
            <a:ext cx="1818475" cy="810300"/>
          </a:xfrm>
          <a:prstGeom prst="rect">
            <a:avLst/>
          </a:prstGeom>
          <a:noFill/>
          <a:ln>
            <a:noFill/>
          </a:ln>
          <a:effectLst>
            <a:outerShdw blurRad="114300" dist="19050" dir="30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E15DC-F076-98D2-1BDF-BC01FEC90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Notetaker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4A6F5D-9442-B583-BAB9-5A102B90EC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need a volunteer for notetaking.</a:t>
            </a:r>
          </a:p>
          <a:p>
            <a:r>
              <a:rPr lang="en-US" dirty="0">
                <a:hlinkClick r:id="rId3"/>
              </a:rPr>
              <a:t>https://notes.ietf.org/notes-ietf-126-nmop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6BDC7-4DE9-D9D5-0725-BBEF6CFE8D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tabLst/>
              <a:defRPr/>
            </a:pPr>
            <a:fld id="{00000000-1234-1234-1234-123412341234}" type="slidenum">
              <a:rPr kumimoji="0" 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Open Sans Medium"/>
                <a:ea typeface="Open Sans Medium"/>
                <a:cs typeface="Open Sans Medium"/>
                <a:sym typeface="Open Sans Medium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37373"/>
                </a:buClr>
                <a:buSzPts val="1000"/>
                <a:buFont typeface="Roboto"/>
                <a:buNone/>
                <a:tabLst/>
                <a:defRPr/>
              </a:pPr>
              <a:t>4</a:t>
            </a:fld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737373"/>
              </a:solidFill>
              <a:effectLst/>
              <a:uLnTx/>
              <a:uFillTx/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  <p:extLst>
      <p:ext uri="{BB962C8B-B14F-4D97-AF65-F5344CB8AC3E}">
        <p14:creationId xmlns:p14="http://schemas.microsoft.com/office/powerpoint/2010/main" val="3471097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D07583A1-42AD-5036-D05C-4A66EF5CF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>
            <a:extLst>
              <a:ext uri="{FF2B5EF4-FFF2-40B4-BE49-F238E27FC236}">
                <a16:creationId xmlns:a16="http://schemas.microsoft.com/office/drawing/2014/main" id="{3A862EC5-80EE-D0BE-6950-881788CE72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pen Sans SemiBold"/>
              <a:buNone/>
            </a:pPr>
            <a:r>
              <a:rPr lang="en-US" sz="2400" dirty="0">
                <a:latin typeface="Inter"/>
                <a:ea typeface="Inter"/>
                <a:cs typeface="Inter"/>
                <a:sym typeface="Inter"/>
              </a:rPr>
              <a:t>Agenda: Session 2</a:t>
            </a:r>
            <a:endParaRPr sz="2400" i="0" u="none" strike="noStrike" cap="none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06C171-096C-CA5B-4C5D-236D36DE60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5A4910-A76A-65C2-3D27-A33C71FC9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0" y="1150996"/>
            <a:ext cx="9005245" cy="2641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870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471900" y="218223"/>
            <a:ext cx="8222100" cy="12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pen Sans"/>
              <a:buNone/>
            </a:pPr>
            <a:r>
              <a:rPr lang="en-US" dirty="0"/>
              <a:t>Resources for </a:t>
            </a:r>
            <a:r>
              <a:rPr lang="en-US" sz="3600" b="0" i="0" u="none" strike="noStrike" cap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IETF </a:t>
            </a:r>
            <a:r>
              <a:rPr lang="en-US" dirty="0"/>
              <a:t>125 </a:t>
            </a:r>
            <a:r>
              <a:rPr lang="de-CH" dirty="0"/>
              <a:t>Shenzhen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pen Sans"/>
              <a:buNone/>
            </a:pPr>
            <a:endParaRPr sz="2400" dirty="0">
              <a:solidFill>
                <a:srgbClr val="FFFFFF"/>
              </a:solidFill>
            </a:endParaRPr>
          </a:p>
        </p:txBody>
      </p:sp>
      <p:sp>
        <p:nvSpPr>
          <p:cNvPr id="129" name="Google Shape;129;p23"/>
          <p:cNvSpPr txBox="1">
            <a:spLocks noGrp="1"/>
          </p:cNvSpPr>
          <p:nvPr>
            <p:ph type="body" idx="1"/>
          </p:nvPr>
        </p:nvSpPr>
        <p:spPr>
          <a:xfrm>
            <a:off x="471900" y="1919074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457200" marR="0" lvl="0" indent="-34290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>
                <a:solidFill>
                  <a:srgbClr val="000000"/>
                </a:solidFill>
              </a:rPr>
              <a:t>Agenda</a:t>
            </a:r>
            <a:br>
              <a:rPr lang="en-US" b="1">
                <a:solidFill>
                  <a:srgbClr val="000000"/>
                </a:solidFill>
              </a:rPr>
            </a:br>
            <a:r>
              <a:rPr lang="en-US" u="sng">
                <a:solidFill>
                  <a:schemeClr val="hlink"/>
                </a:solidFill>
                <a:hlinkClick r:id="rId3"/>
              </a:rPr>
              <a:t>https://datatracker.ietf.org/meeting/agenda</a:t>
            </a:r>
            <a:r>
              <a:rPr lang="en-US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marL="457200" marR="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>
                <a:solidFill>
                  <a:srgbClr val="000000"/>
                </a:solidFill>
              </a:rPr>
              <a:t>Meetecho and other information:</a:t>
            </a:r>
            <a:br>
              <a:rPr lang="en-US">
                <a:solidFill>
                  <a:srgbClr val="000000"/>
                </a:solidFill>
              </a:rPr>
            </a:br>
            <a:r>
              <a:rPr lang="en-US" u="sng">
                <a:solidFill>
                  <a:schemeClr val="hlink"/>
                </a:solidFill>
                <a:hlinkClick r:id="rId4"/>
              </a:rPr>
              <a:t>https://www.ietf.org/how/meetings/preparation</a:t>
            </a:r>
            <a:r>
              <a:rPr lang="en-US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marL="457200" marR="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>
                <a:solidFill>
                  <a:srgbClr val="000000"/>
                </a:solidFill>
              </a:rPr>
              <a:t>If you need technical assistance, see the Reporting Issues page:</a:t>
            </a:r>
            <a:br>
              <a:rPr lang="en-US">
                <a:solidFill>
                  <a:srgbClr val="000000"/>
                </a:solidFill>
              </a:rPr>
            </a:br>
            <a:r>
              <a:rPr lang="en-US" u="sng">
                <a:solidFill>
                  <a:schemeClr val="hlink"/>
                </a:solidFill>
                <a:hlinkClick r:id="rId5"/>
              </a:rPr>
              <a:t>http://www.ietf.org/how/meetings/issues/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0" name="Google Shape;130;p23"/>
          <p:cNvSpPr txBox="1">
            <a:spLocks noGrp="1"/>
          </p:cNvSpPr>
          <p:nvPr>
            <p:ph type="sldNum" idx="12"/>
          </p:nvPr>
        </p:nvSpPr>
        <p:spPr>
          <a:xfrm>
            <a:off x="8694000" y="4724798"/>
            <a:ext cx="378328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</a:pPr>
            <a:fld id="{00000000-1234-1234-1234-123412341234}" type="slidenum">
              <a:rPr lang="en-US"/>
              <a:t>6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002D3C"/>
      </a:dk1>
      <a:lt1>
        <a:srgbClr val="4285F4"/>
      </a:lt1>
      <a:dk2>
        <a:srgbClr val="A7A7A7"/>
      </a:dk2>
      <a:lt2>
        <a:srgbClr val="53535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terial">
  <a:themeElements>
    <a:clrScheme name="Material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07222825-62ea-40f3-96b5-5375c07996e2}" enabled="1" method="Privileged" siteId="{90c7a20a-f34b-40bf-bc48-b9253b6f5d20}" removed="0"/>
  <clbl:label id="{20bd2185-7f4f-483c-8403-3480aaa4171f}" enabled="1" method="Standard" siteId="{72adb271-2fc7-4afe-a5ee-9de6a59f6bfb}" removed="0"/>
  <clbl:label id="{2e1fccfb-80ca-4fe1-a574-1516544edb53}" enabled="1" method="Standard" siteId="{364e5b87-c1c7-420d-9bee-c35d19b557a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820</Words>
  <Application>Microsoft Macintosh PowerPoint</Application>
  <PresentationFormat>On-screen Show (16:9)</PresentationFormat>
  <Paragraphs>62</Paragraphs>
  <Slides>6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Inter</vt:lpstr>
      <vt:lpstr>Montserrat</vt:lpstr>
      <vt:lpstr>Open Sans</vt:lpstr>
      <vt:lpstr>Open Sans Medium</vt:lpstr>
      <vt:lpstr>Open Sans SemiBold</vt:lpstr>
      <vt:lpstr>Roboto</vt:lpstr>
      <vt:lpstr>Material</vt:lpstr>
      <vt:lpstr>Network Management Operations (nmop) WG – Session 2</vt:lpstr>
      <vt:lpstr>Note Well</vt:lpstr>
      <vt:lpstr>IETF 126 Meeting Tips</vt:lpstr>
      <vt:lpstr>Notetaker</vt:lpstr>
      <vt:lpstr>Agenda: Session 2</vt:lpstr>
      <vt:lpstr>Resources for IETF 125 Shenzhen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IETF 122 NMOP Chairs Slides</dc:title>
  <dc:creator>BOUCADAIR Mohamed INNOV/NET</dc:creator>
  <cp:lastModifiedBy>Reshad Rahman</cp:lastModifiedBy>
  <cp:revision>17</cp:revision>
  <dcterms:modified xsi:type="dcterms:W3CDTF">2026-07-15T15:54:02Z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readonly">
    <vt:lpwstr/>
  </property>
  <property fmtid="{D5CDD505-2E9C-101B-9397-08002B2CF9AE}" pid="3" name="_change">
    <vt:lpwstr/>
  </property>
  <property fmtid="{D5CDD505-2E9C-101B-9397-08002B2CF9AE}" pid="4" name="_full-control">
    <vt:lpwstr/>
  </property>
  <property fmtid="{D5CDD505-2E9C-101B-9397-08002B2CF9AE}" pid="5" name="sflag">
    <vt:lpwstr>1751475423</vt:lpwstr>
  </property>
</Properties>
</file>