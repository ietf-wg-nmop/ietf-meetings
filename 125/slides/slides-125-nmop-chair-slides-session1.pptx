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4" r:id="rId1"/>
    <p:sldMasterId id="2147483668" r:id="rId2"/>
  </p:sldMasterIdLst>
  <p:notesMasterIdLst>
    <p:notesMasterId r:id="rId10"/>
  </p:notesMasterIdLst>
  <p:sldIdLst>
    <p:sldId id="276" r:id="rId3"/>
    <p:sldId id="256" r:id="rId4"/>
    <p:sldId id="281" r:id="rId5"/>
    <p:sldId id="259" r:id="rId6"/>
    <p:sldId id="261" r:id="rId7"/>
    <p:sldId id="278" r:id="rId8"/>
    <p:sldId id="260"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659D06-233B-4A84-BAB1-FC917D228196}" v="7" dt="2026-03-16T00:35:04.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19" d="100"/>
          <a:sy n="119" d="100"/>
        </p:scale>
        <p:origin x="418" y="96"/>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ADEEF08A-D719-4B50-A383-4105EDA2C206}"/>
    <pc:docChg chg="custSel mod addSld delSld modSld">
      <pc:chgData name="Graf Thomas, SCS-INI-NET-VNC-E2E" userId="487bc3e3-9ce7-4cdd-b7b4-8899ea88d289" providerId="ADAL" clId="{ADEEF08A-D719-4B50-A383-4105EDA2C206}" dt="2026-03-16T00:34:54.732" v="33" actId="20577"/>
      <pc:docMkLst>
        <pc:docMk/>
      </pc:docMkLst>
      <pc:sldChg chg="del">
        <pc:chgData name="Graf Thomas, SCS-INI-NET-VNC-E2E" userId="487bc3e3-9ce7-4cdd-b7b4-8899ea88d289" providerId="ADAL" clId="{ADEEF08A-D719-4B50-A383-4105EDA2C206}" dt="2026-03-16T00:33:00.591" v="26" actId="47"/>
        <pc:sldMkLst>
          <pc:docMk/>
          <pc:sldMk cId="0" sldId="258"/>
        </pc:sldMkLst>
      </pc:sldChg>
      <pc:sldChg chg="add">
        <pc:chgData name="Graf Thomas, SCS-INI-NET-VNC-E2E" userId="487bc3e3-9ce7-4cdd-b7b4-8899ea88d289" providerId="ADAL" clId="{ADEEF08A-D719-4B50-A383-4105EDA2C206}" dt="2026-03-16T00:34:31.635" v="27"/>
        <pc:sldMkLst>
          <pc:docMk/>
          <pc:sldMk cId="0" sldId="259"/>
        </pc:sldMkLst>
      </pc:sldChg>
      <pc:sldChg chg="add">
        <pc:chgData name="Graf Thomas, SCS-INI-NET-VNC-E2E" userId="487bc3e3-9ce7-4cdd-b7b4-8899ea88d289" providerId="ADAL" clId="{ADEEF08A-D719-4B50-A383-4105EDA2C206}" dt="2026-03-16T00:31:09.369" v="19"/>
        <pc:sldMkLst>
          <pc:docMk/>
          <pc:sldMk cId="0" sldId="260"/>
        </pc:sldMkLst>
      </pc:sldChg>
      <pc:sldChg chg="modSp add mod">
        <pc:chgData name="Graf Thomas, SCS-INI-NET-VNC-E2E" userId="487bc3e3-9ce7-4cdd-b7b4-8899ea88d289" providerId="ADAL" clId="{ADEEF08A-D719-4B50-A383-4105EDA2C206}" dt="2026-03-16T00:34:54.732" v="33" actId="20577"/>
        <pc:sldMkLst>
          <pc:docMk/>
          <pc:sldMk cId="3471097262" sldId="261"/>
        </pc:sldMkLst>
        <pc:spChg chg="mod">
          <ac:chgData name="Graf Thomas, SCS-INI-NET-VNC-E2E" userId="487bc3e3-9ce7-4cdd-b7b4-8899ea88d289" providerId="ADAL" clId="{ADEEF08A-D719-4B50-A383-4105EDA2C206}" dt="2026-03-16T00:34:54.732" v="33" actId="20577"/>
          <ac:spMkLst>
            <pc:docMk/>
            <pc:sldMk cId="3471097262" sldId="261"/>
            <ac:spMk id="3" creationId="{DA4A6F5D-9442-B583-BAB9-5A102B90EC22}"/>
          </ac:spMkLst>
        </pc:spChg>
      </pc:sldChg>
      <pc:sldChg chg="modSp mod">
        <pc:chgData name="Graf Thomas, SCS-INI-NET-VNC-E2E" userId="487bc3e3-9ce7-4cdd-b7b4-8899ea88d289" providerId="ADAL" clId="{ADEEF08A-D719-4B50-A383-4105EDA2C206}" dt="2026-03-16T00:26:03.620" v="12" actId="20577"/>
        <pc:sldMkLst>
          <pc:docMk/>
          <pc:sldMk cId="0" sldId="276"/>
        </pc:sldMkLst>
        <pc:spChg chg="mod">
          <ac:chgData name="Graf Thomas, SCS-INI-NET-VNC-E2E" userId="487bc3e3-9ce7-4cdd-b7b4-8899ea88d289" providerId="ADAL" clId="{ADEEF08A-D719-4B50-A383-4105EDA2C206}" dt="2026-03-16T00:26:03.620" v="12" actId="20577"/>
          <ac:spMkLst>
            <pc:docMk/>
            <pc:sldMk cId="0" sldId="276"/>
            <ac:spMk id="100" creationId="{00000000-0000-0000-0000-000000000000}"/>
          </ac:spMkLst>
        </pc:spChg>
      </pc:sldChg>
      <pc:sldChg chg="del">
        <pc:chgData name="Graf Thomas, SCS-INI-NET-VNC-E2E" userId="487bc3e3-9ce7-4cdd-b7b4-8899ea88d289" providerId="ADAL" clId="{ADEEF08A-D719-4B50-A383-4105EDA2C206}" dt="2026-03-16T00:30:25.888" v="18" actId="47"/>
        <pc:sldMkLst>
          <pc:docMk/>
          <pc:sldMk cId="4020374104" sldId="277"/>
        </pc:sldMkLst>
      </pc:sldChg>
      <pc:sldChg chg="addSp delSp modSp mod">
        <pc:chgData name="Graf Thomas, SCS-INI-NET-VNC-E2E" userId="487bc3e3-9ce7-4cdd-b7b4-8899ea88d289" providerId="ADAL" clId="{ADEEF08A-D719-4B50-A383-4105EDA2C206}" dt="2026-03-16T00:29:44.360" v="17" actId="14100"/>
        <pc:sldMkLst>
          <pc:docMk/>
          <pc:sldMk cId="3873870168" sldId="278"/>
        </pc:sldMkLst>
        <pc:picChg chg="del">
          <ac:chgData name="Graf Thomas, SCS-INI-NET-VNC-E2E" userId="487bc3e3-9ce7-4cdd-b7b4-8899ea88d289" providerId="ADAL" clId="{ADEEF08A-D719-4B50-A383-4105EDA2C206}" dt="2026-03-16T00:29:35.280" v="14" actId="478"/>
          <ac:picMkLst>
            <pc:docMk/>
            <pc:sldMk cId="3873870168" sldId="278"/>
            <ac:picMk id="3" creationId="{1FE22749-978F-230A-2C82-B42414055769}"/>
          </ac:picMkLst>
        </pc:picChg>
        <pc:picChg chg="add mod">
          <ac:chgData name="Graf Thomas, SCS-INI-NET-VNC-E2E" userId="487bc3e3-9ce7-4cdd-b7b4-8899ea88d289" providerId="ADAL" clId="{ADEEF08A-D719-4B50-A383-4105EDA2C206}" dt="2026-03-16T00:29:44.360" v="17" actId="14100"/>
          <ac:picMkLst>
            <pc:docMk/>
            <pc:sldMk cId="3873870168" sldId="278"/>
            <ac:picMk id="5" creationId="{0A3BAF73-6291-808C-D649-3286010A1023}"/>
          </ac:picMkLst>
        </pc:picChg>
      </pc:sldChg>
      <pc:sldChg chg="modSp del mod">
        <pc:chgData name="Graf Thomas, SCS-INI-NET-VNC-E2E" userId="487bc3e3-9ce7-4cdd-b7b4-8899ea88d289" providerId="ADAL" clId="{ADEEF08A-D719-4B50-A383-4105EDA2C206}" dt="2026-03-16T00:34:34.267" v="28" actId="47"/>
        <pc:sldMkLst>
          <pc:docMk/>
          <pc:sldMk cId="1619678016" sldId="280"/>
        </pc:sldMkLst>
        <pc:spChg chg="mod">
          <ac:chgData name="Graf Thomas, SCS-INI-NET-VNC-E2E" userId="487bc3e3-9ce7-4cdd-b7b4-8899ea88d289" providerId="ADAL" clId="{ADEEF08A-D719-4B50-A383-4105EDA2C206}" dt="2026-03-16T00:26:20.766" v="13" actId="20577"/>
          <ac:spMkLst>
            <pc:docMk/>
            <pc:sldMk cId="1619678016" sldId="280"/>
            <ac:spMk id="69" creationId="{E1870915-5CC2-61FE-6865-3145DCF074BE}"/>
          </ac:spMkLst>
        </pc:spChg>
      </pc:sldChg>
      <pc:sldChg chg="add del">
        <pc:chgData name="Graf Thomas, SCS-INI-NET-VNC-E2E" userId="487bc3e3-9ce7-4cdd-b7b4-8899ea88d289" providerId="ADAL" clId="{ADEEF08A-D719-4B50-A383-4105EDA2C206}" dt="2026-03-16T00:32:58.385" v="25"/>
        <pc:sldMkLst>
          <pc:docMk/>
          <pc:sldMk cId="0" sldId="281"/>
        </pc:sldMkLst>
      </pc:sldChg>
      <pc:sldChg chg="delSp add del mod">
        <pc:chgData name="Graf Thomas, SCS-INI-NET-VNC-E2E" userId="487bc3e3-9ce7-4cdd-b7b4-8899ea88d289" providerId="ADAL" clId="{ADEEF08A-D719-4B50-A383-4105EDA2C206}" dt="2026-03-16T00:32:51.261" v="24" actId="47"/>
        <pc:sldMkLst>
          <pc:docMk/>
          <pc:sldMk cId="609936168" sldId="281"/>
        </pc:sldMkLst>
        <pc:picChg chg="del">
          <ac:chgData name="Graf Thomas, SCS-INI-NET-VNC-E2E" userId="487bc3e3-9ce7-4cdd-b7b4-8899ea88d289" providerId="ADAL" clId="{ADEEF08A-D719-4B50-A383-4105EDA2C206}" dt="2026-03-16T00:32:34.879" v="23" actId="478"/>
          <ac:picMkLst>
            <pc:docMk/>
            <pc:sldMk cId="609936168" sldId="281"/>
            <ac:picMk id="71" creationId="{F8BD4ADA-9CD0-55D7-76AE-75E246A971E0}"/>
          </ac:picMkLst>
        </pc:picChg>
      </pc:sldChg>
      <pc:sldChg chg="del">
        <pc:chgData name="Graf Thomas, SCS-INI-NET-VNC-E2E" userId="487bc3e3-9ce7-4cdd-b7b4-8899ea88d289" providerId="ADAL" clId="{ADEEF08A-D719-4B50-A383-4105EDA2C206}" dt="2026-03-16T00:30:25.888" v="18" actId="47"/>
        <pc:sldMkLst>
          <pc:docMk/>
          <pc:sldMk cId="1293646540" sldId="281"/>
        </pc:sldMkLst>
      </pc:sldChg>
      <pc:sldChg chg="del">
        <pc:chgData name="Graf Thomas, SCS-INI-NET-VNC-E2E" userId="487bc3e3-9ce7-4cdd-b7b4-8899ea88d289" providerId="ADAL" clId="{ADEEF08A-D719-4B50-A383-4105EDA2C206}" dt="2026-03-16T00:30:25.888" v="18" actId="47"/>
        <pc:sldMkLst>
          <pc:docMk/>
          <pc:sldMk cId="1765196037" sldId="282"/>
        </pc:sldMkLst>
      </pc:sldChg>
      <pc:sldChg chg="del">
        <pc:chgData name="Graf Thomas, SCS-INI-NET-VNC-E2E" userId="487bc3e3-9ce7-4cdd-b7b4-8899ea88d289" providerId="ADAL" clId="{ADEEF08A-D719-4B50-A383-4105EDA2C206}" dt="2026-03-16T00:30:25.888" v="18" actId="47"/>
        <pc:sldMkLst>
          <pc:docMk/>
          <pc:sldMk cId="385604894" sldId="283"/>
        </pc:sldMkLst>
      </pc:sldChg>
      <pc:sldMasterChg chg="delSldLayout">
        <pc:chgData name="Graf Thomas, SCS-INI-NET-VNC-E2E" userId="487bc3e3-9ce7-4cdd-b7b4-8899ea88d289" providerId="ADAL" clId="{ADEEF08A-D719-4B50-A383-4105EDA2C206}" dt="2026-03-16T00:33:00.591" v="26" actId="47"/>
        <pc:sldMasterMkLst>
          <pc:docMk/>
          <pc:sldMasterMk cId="0" sldId="2147483664"/>
        </pc:sldMasterMkLst>
        <pc:sldLayoutChg chg="del">
          <pc:chgData name="Graf Thomas, SCS-INI-NET-VNC-E2E" userId="487bc3e3-9ce7-4cdd-b7b4-8899ea88d289" providerId="ADAL" clId="{ADEEF08A-D719-4B50-A383-4105EDA2C206}" dt="2026-03-16T00:30:25.888" v="18" actId="47"/>
          <pc:sldLayoutMkLst>
            <pc:docMk/>
            <pc:sldMasterMk cId="0" sldId="2147483664"/>
            <pc:sldLayoutMk cId="0" sldId="2147483649"/>
          </pc:sldLayoutMkLst>
        </pc:sldLayoutChg>
        <pc:sldLayoutChg chg="del">
          <pc:chgData name="Graf Thomas, SCS-INI-NET-VNC-E2E" userId="487bc3e3-9ce7-4cdd-b7b4-8899ea88d289" providerId="ADAL" clId="{ADEEF08A-D719-4B50-A383-4105EDA2C206}" dt="2026-03-16T00:33:00.591" v="26" actId="47"/>
          <pc:sldLayoutMkLst>
            <pc:docMk/>
            <pc:sldMasterMk cId="0" sldId="2147483664"/>
            <pc:sldLayoutMk cId="545161684" sldId="214748366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a9a795ff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ga9a795ffb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423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C501353B-1DE2-126C-2436-25310EEDEADA}"/>
            </a:ext>
          </a:extLst>
        </p:cNvPr>
        <p:cNvGrpSpPr/>
        <p:nvPr/>
      </p:nvGrpSpPr>
      <p:grpSpPr>
        <a:xfrm>
          <a:off x="0" y="0"/>
          <a:ext cx="0" cy="0"/>
          <a:chOff x="0" y="0"/>
          <a:chExt cx="0" cy="0"/>
        </a:xfrm>
      </p:grpSpPr>
      <p:sp>
        <p:nvSpPr>
          <p:cNvPr id="66" name="Google Shape;66;g7179d949db_7_60:notes">
            <a:extLst>
              <a:ext uri="{FF2B5EF4-FFF2-40B4-BE49-F238E27FC236}">
                <a16:creationId xmlns:a16="http://schemas.microsoft.com/office/drawing/2014/main" id="{E6A6B4E0-F8A0-1267-D6B2-FF10454B10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a:extLst>
              <a:ext uri="{FF2B5EF4-FFF2-40B4-BE49-F238E27FC236}">
                <a16:creationId xmlns:a16="http://schemas.microsoft.com/office/drawing/2014/main" id="{0353B784-13AB-227A-A05F-86EA1838AF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155513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71a2a6c77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g71a2a6c778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3"/>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3"/>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3"/>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600"/>
              <a:buFont typeface="Inter"/>
              <a:buNone/>
              <a:defRPr sz="36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8" name="Google Shape;18;p3"/>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19" name="Google Shape;19;p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60378000"/>
      </p:ext>
    </p:extLst>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extLst>
      <p:ext uri="{BB962C8B-B14F-4D97-AF65-F5344CB8AC3E}">
        <p14:creationId xmlns:p14="http://schemas.microsoft.com/office/powerpoint/2010/main" val="214186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extLst>
      <p:ext uri="{BB962C8B-B14F-4D97-AF65-F5344CB8AC3E}">
        <p14:creationId xmlns:p14="http://schemas.microsoft.com/office/powerpoint/2010/main" val="3588774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3336872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482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4231984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27940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81695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250557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58915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505167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67"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46969092"/>
      </p:ext>
    </p:extLst>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notes.ietf.org/notes-ietf-125-nmop"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datatracker.ietf.org/meeting/agenda"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hyperlink" Target="http://www.ietf.org/how/meetings/issues/" TargetMode="External"/><Relationship Id="rId4" Type="http://schemas.openxmlformats.org/officeDocument/2006/relationships/hyperlink" Target="https://www.ietf.org/how/meetings/prepa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75" y="1217444"/>
            <a:ext cx="7635000" cy="933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Network Management Operations (</a:t>
            </a:r>
            <a:r>
              <a:rPr lang="en-US" sz="3600" dirty="0" err="1">
                <a:latin typeface="Inter"/>
                <a:ea typeface="Inter"/>
                <a:cs typeface="Inter"/>
                <a:sym typeface="Inter"/>
              </a:rPr>
              <a:t>nmop</a:t>
            </a:r>
            <a:r>
              <a:rPr lang="en-US" sz="3600" dirty="0">
                <a:latin typeface="Inter"/>
                <a:ea typeface="Inter"/>
                <a:cs typeface="Inter"/>
                <a:sym typeface="Inter"/>
              </a:rPr>
              <a:t>) WG – Session 1</a:t>
            </a:r>
            <a:endParaRPr sz="3600" dirty="0">
              <a:latin typeface="Inter"/>
              <a:ea typeface="Inter"/>
              <a:cs typeface="Inter"/>
              <a:sym typeface="Inter"/>
            </a:endParaRPr>
          </a:p>
        </p:txBody>
      </p:sp>
      <p:sp>
        <p:nvSpPr>
          <p:cNvPr id="100" name="Google Shape;100;p19"/>
          <p:cNvSpPr txBox="1"/>
          <p:nvPr/>
        </p:nvSpPr>
        <p:spPr>
          <a:xfrm>
            <a:off x="754475" y="2201927"/>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IETF 125, March 18th, 2026</a:t>
            </a:r>
            <a:endParaRPr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latin typeface="Inter"/>
                <a:ea typeface="Inter"/>
                <a:cs typeface="Inter"/>
                <a:sym typeface="Inter"/>
              </a:rPr>
              <a:t>Internet Engineering Task Force</a:t>
            </a:r>
            <a:endParaRPr sz="1200" dirty="0">
              <a:latin typeface="Inter"/>
              <a:ea typeface="Inter"/>
              <a:cs typeface="Inter"/>
              <a:sym typeface="Inter"/>
            </a:endParaRPr>
          </a:p>
          <a:p>
            <a:pPr marL="0" lvl="0" indent="0" algn="l" rtl="0">
              <a:spcBef>
                <a:spcPts val="0"/>
              </a:spcBef>
              <a:spcAft>
                <a:spcPts val="0"/>
              </a:spcAft>
              <a:buNone/>
            </a:pPr>
            <a:r>
              <a:rPr lang="en-US" sz="1200" dirty="0">
                <a:latin typeface="Inter"/>
                <a:ea typeface="Inter"/>
                <a:cs typeface="Inter"/>
                <a:sym typeface="Inter"/>
              </a:rPr>
              <a:t>© 2025 IETF Trust </a:t>
            </a:r>
            <a:endParaRPr sz="1200" dirty="0">
              <a:latin typeface="Inter"/>
              <a:ea typeface="Inter"/>
              <a:cs typeface="Inter"/>
              <a:sym typeface="Inter"/>
            </a:endParaRPr>
          </a:p>
          <a:p>
            <a:pPr marL="0" lvl="0" indent="0" algn="l" rtl="0">
              <a:spcBef>
                <a:spcPts val="0"/>
              </a:spcBef>
              <a:spcAft>
                <a:spcPts val="0"/>
              </a:spcAft>
              <a:buNone/>
            </a:pPr>
            <a:r>
              <a:rPr lang="en-US" sz="1200" dirty="0">
                <a:latin typeface="Inter"/>
                <a:ea typeface="Inter"/>
                <a:cs typeface="Inter"/>
                <a:sym typeface="Inter"/>
              </a:rPr>
              <a:t>Production by </a:t>
            </a:r>
            <a:r>
              <a:rPr lang="en-US" sz="1200" dirty="0" err="1">
                <a:latin typeface="Inter"/>
                <a:ea typeface="Inter"/>
                <a:cs typeface="Inter"/>
                <a:sym typeface="Inter"/>
              </a:rPr>
              <a:t>Meetecho</a:t>
            </a:r>
            <a:endParaRPr sz="1200" dirty="0">
              <a:latin typeface="Inter"/>
              <a:ea typeface="Inter"/>
              <a:cs typeface="Inter"/>
              <a:sym typeface="Inter"/>
            </a:endParaRPr>
          </a:p>
        </p:txBody>
      </p:sp>
      <p:sp>
        <p:nvSpPr>
          <p:cNvPr id="102" name="Google Shape;102;p19"/>
          <p:cNvSpPr txBox="1"/>
          <p:nvPr/>
        </p:nvSpPr>
        <p:spPr>
          <a:xfrm>
            <a:off x="754475" y="3414667"/>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This session is being recorded</a:t>
            </a:r>
            <a:endParaRPr sz="2400" dirty="0">
              <a:solidFill>
                <a:srgbClr val="FFF2CC"/>
              </a:solidFill>
              <a:latin typeface="Inter"/>
              <a:ea typeface="Inter"/>
              <a:cs typeface="Inter"/>
              <a:sym typeface="Inter"/>
            </a:endParaRPr>
          </a:p>
        </p:txBody>
      </p:sp>
      <p:sp>
        <p:nvSpPr>
          <p:cNvPr id="2" name="Google Shape;100;p19">
            <a:extLst>
              <a:ext uri="{FF2B5EF4-FFF2-40B4-BE49-F238E27FC236}">
                <a16:creationId xmlns:a16="http://schemas.microsoft.com/office/drawing/2014/main" id="{87CFB194-3778-2C13-73F3-088D1012F1B1}"/>
              </a:ext>
            </a:extLst>
          </p:cNvPr>
          <p:cNvSpPr txBox="1"/>
          <p:nvPr/>
        </p:nvSpPr>
        <p:spPr>
          <a:xfrm>
            <a:off x="783511" y="2913334"/>
            <a:ext cx="6331663"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WG Chairs: B. Claise, R. Rahman</a:t>
            </a:r>
            <a:endParaRPr sz="1100" dirty="0">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70" name="Google Shape;70;p12"/>
          <p:cNvSpPr txBox="1"/>
          <p:nvPr/>
        </p:nvSpPr>
        <p:spPr>
          <a:xfrm>
            <a:off x="311700" y="740167"/>
            <a:ext cx="8520600" cy="4100700"/>
          </a:xfrm>
          <a:prstGeom prst="rect">
            <a:avLst/>
          </a:prstGeom>
          <a:noFill/>
          <a:ln>
            <a:noFill/>
          </a:ln>
        </p:spPr>
        <p:txBody>
          <a:bodyPr spcFirstLastPara="1" wrap="square" lIns="91400" tIns="45700" rIns="91400" bIns="45700" anchor="t" anchorCtr="0">
            <a:noAutofit/>
          </a:bodyPr>
          <a:lstStyle/>
          <a:p>
            <a:pPr marL="0" lvl="0" indent="0" algn="l" rtl="0">
              <a:lnSpc>
                <a:spcPct val="115000"/>
              </a:lnSpc>
              <a:spcBef>
                <a:spcPts val="0"/>
              </a:spcBef>
              <a:spcAft>
                <a:spcPts val="0"/>
              </a:spcAft>
              <a:buNone/>
            </a:pPr>
            <a:r>
              <a:rPr lang="en-US" sz="1200" dirty="0">
                <a:solidFill>
                  <a:srgbClr val="000000"/>
                </a:solidFill>
                <a:latin typeface="Inter"/>
                <a:ea typeface="Inter"/>
                <a:cs typeface="Inter"/>
                <a:sym typeface="Inter"/>
              </a:rPr>
              <a:t>By participating in the IETF you agree to follow IETF processes and policies. This Note Well is a reminder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of some of those policies. For a linked version of this text, please visit </a:t>
            </a:r>
            <a:r>
              <a:rPr lang="en-US" sz="1200" i="1" dirty="0" err="1">
                <a:solidFill>
                  <a:srgbClr val="000000"/>
                </a:solidFill>
                <a:latin typeface="Inter"/>
                <a:ea typeface="Inter"/>
                <a:cs typeface="Inter"/>
                <a:sym typeface="Inter"/>
              </a:rPr>
              <a:t>www.ietf.org</a:t>
            </a:r>
            <a:r>
              <a:rPr lang="en-US" sz="1200" i="1" dirty="0">
                <a:solidFill>
                  <a:srgbClr val="000000"/>
                </a:solidFill>
                <a:latin typeface="Inter"/>
                <a:ea typeface="Inter"/>
                <a:cs typeface="Inter"/>
                <a:sym typeface="Inter"/>
              </a:rPr>
              <a:t>/note-well </a:t>
            </a:r>
            <a:r>
              <a:rPr lang="en-US" sz="1200" dirty="0">
                <a:solidFill>
                  <a:srgbClr val="000000"/>
                </a:solidFill>
                <a:latin typeface="Inter"/>
                <a:ea typeface="Inter"/>
                <a:cs typeface="Inter"/>
                <a:sym typeface="Inter"/>
              </a:rPr>
              <a:t>or use the QR code below.</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IETF participants are expected to behave in a professional manner and extend respect and courtesy to their colleagues at all times (see </a:t>
            </a:r>
            <a:r>
              <a:rPr lang="en-US" sz="1200" i="1" dirty="0">
                <a:solidFill>
                  <a:srgbClr val="000000"/>
                </a:solidFill>
                <a:latin typeface="Inter"/>
                <a:ea typeface="Inter"/>
                <a:cs typeface="Inter"/>
                <a:sym typeface="Inter"/>
              </a:rPr>
              <a:t>RFC 7154: IETF Guidelines for Conduct and IETF Anti-Harassment Policy</a:t>
            </a:r>
            <a:r>
              <a:rPr lang="en-US" sz="1200" dirty="0">
                <a:solidFill>
                  <a:srgbClr val="000000"/>
                </a:solidFill>
                <a:latin typeface="Inter"/>
                <a:ea typeface="Inter"/>
                <a:cs typeface="Inter"/>
                <a:sym typeface="Inter"/>
              </a:rPr>
              <a:t>). If you have any concerns about behavior, please contact the </a:t>
            </a:r>
            <a:r>
              <a:rPr lang="en-US" sz="1200" i="1" dirty="0" err="1">
                <a:solidFill>
                  <a:srgbClr val="000000"/>
                </a:solidFill>
                <a:latin typeface="Inter"/>
                <a:ea typeface="Inter"/>
                <a:cs typeface="Inter"/>
                <a:sym typeface="Inter"/>
              </a:rPr>
              <a:t>Ombudsteam</a:t>
            </a:r>
            <a:r>
              <a:rPr lang="en-US" sz="1200" dirty="0">
                <a:solidFill>
                  <a:srgbClr val="000000"/>
                </a:solidFill>
                <a:latin typeface="Inter"/>
                <a:ea typeface="Inter"/>
                <a:cs typeface="Inter"/>
                <a:sym typeface="Inter"/>
              </a:rPr>
              <a:t> who have a duty of confidentiality and extensive powers to act, as set out in </a:t>
            </a:r>
            <a:r>
              <a:rPr lang="en-US" sz="1200" i="1" dirty="0">
                <a:solidFill>
                  <a:srgbClr val="000000"/>
                </a:solidFill>
                <a:latin typeface="Inter"/>
                <a:ea typeface="Inter"/>
                <a:cs typeface="Inter"/>
                <a:sym typeface="Inter"/>
              </a:rPr>
              <a:t>RFC 7776: IETF Anti-Harassment Procedures</a:t>
            </a:r>
            <a:r>
              <a:rPr lang="en-US" sz="1200" dirty="0">
                <a:solidFill>
                  <a:srgbClr val="000000"/>
                </a:solidFill>
                <a:latin typeface="Inter"/>
                <a:ea typeface="Inter"/>
                <a:cs typeface="Inter"/>
                <a:sym typeface="Inter"/>
              </a:rPr>
              <a:t>.</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If you are aware that any IETF contribution (as defined in </a:t>
            </a:r>
            <a:r>
              <a:rPr lang="en-US" sz="1200" i="1" dirty="0">
                <a:solidFill>
                  <a:srgbClr val="000000"/>
                </a:solidFill>
                <a:latin typeface="Inter"/>
                <a:ea typeface="Inter"/>
                <a:cs typeface="Inter"/>
                <a:sym typeface="Inter"/>
              </a:rPr>
              <a:t>RFC 5378: Rights Contributors Provide to the IETF Trust</a:t>
            </a:r>
            <a:r>
              <a:rPr lang="en-US" sz="1200" dirty="0">
                <a:solidFill>
                  <a:srgbClr val="000000"/>
                </a:solidFill>
                <a:latin typeface="Inter"/>
                <a:ea typeface="Inter"/>
                <a:cs typeface="Inter"/>
                <a:sym typeface="Inter"/>
              </a:rPr>
              <a:t>) is covered by patents or patent applications that are owned or controlled by you, your employer or your sponsor, you must disclose that fact, or not participate in the discussion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(see </a:t>
            </a:r>
            <a:r>
              <a:rPr lang="en-US" sz="1200" i="1" dirty="0">
                <a:solidFill>
                  <a:srgbClr val="000000"/>
                </a:solidFill>
                <a:latin typeface="Inter"/>
                <a:ea typeface="Inter"/>
                <a:cs typeface="Inter"/>
                <a:sym typeface="Inter"/>
              </a:rPr>
              <a:t>RFC 8179: Intellectual Property Rights in IETF Technology</a:t>
            </a:r>
            <a:r>
              <a:rPr lang="en-US" sz="1200" dirty="0">
                <a:solidFill>
                  <a:srgbClr val="000000"/>
                </a:solidFill>
                <a:latin typeface="Inter"/>
                <a:ea typeface="Inter"/>
                <a:cs typeface="Inter"/>
                <a:sym typeface="Inter"/>
              </a:rPr>
              <a:t>).</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For detailed process information consult </a:t>
            </a:r>
            <a:r>
              <a:rPr lang="en-US" sz="1200" i="1" dirty="0">
                <a:solidFill>
                  <a:srgbClr val="000000"/>
                </a:solidFill>
                <a:latin typeface="Inter"/>
                <a:ea typeface="Inter"/>
                <a:cs typeface="Inter"/>
                <a:sym typeface="Inter"/>
              </a:rPr>
              <a:t>RFC 2026: Internet Standards Process </a:t>
            </a:r>
            <a:r>
              <a:rPr lang="en-US" sz="1200" dirty="0">
                <a:solidFill>
                  <a:srgbClr val="000000"/>
                </a:solidFill>
                <a:latin typeface="Inter"/>
                <a:ea typeface="Inter"/>
                <a:cs typeface="Inter"/>
                <a:sym typeface="Inter"/>
              </a:rPr>
              <a:t>and </a:t>
            </a:r>
            <a:br>
              <a:rPr lang="en-US" sz="1200" dirty="0">
                <a:solidFill>
                  <a:srgbClr val="000000"/>
                </a:solidFill>
                <a:latin typeface="Inter"/>
                <a:ea typeface="Inter"/>
                <a:cs typeface="Inter"/>
                <a:sym typeface="Inter"/>
              </a:rPr>
            </a:br>
            <a:r>
              <a:rPr lang="en-US" sz="1200" i="1" dirty="0">
                <a:solidFill>
                  <a:srgbClr val="000000"/>
                </a:solidFill>
                <a:latin typeface="Inter"/>
                <a:ea typeface="Inter"/>
                <a:cs typeface="Inter"/>
                <a:sym typeface="Inter"/>
              </a:rPr>
              <a:t>RFC 2418: IETF Working Group Guidelines and Procedures </a:t>
            </a:r>
            <a:r>
              <a:rPr lang="en-US" sz="1200" dirty="0">
                <a:solidFill>
                  <a:srgbClr val="000000"/>
                </a:solidFill>
                <a:latin typeface="Inter"/>
                <a:ea typeface="Inter"/>
                <a:cs typeface="Inter"/>
                <a:sym typeface="Inter"/>
              </a:rPr>
              <a:t>and updates to those.</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The IETF routinely makes public written, audio, video, and photographic records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of IETF activities, including your personal information as set out in the </a:t>
            </a:r>
            <a:r>
              <a:rPr lang="en-US" sz="1200" i="1" dirty="0">
                <a:solidFill>
                  <a:srgbClr val="000000"/>
                </a:solidFill>
                <a:latin typeface="Inter"/>
                <a:ea typeface="Inter"/>
                <a:cs typeface="Inter"/>
                <a:sym typeface="Inter"/>
              </a:rPr>
              <a:t>IETF Privacy Statement</a:t>
            </a:r>
            <a:r>
              <a:rPr lang="en-US" sz="1200" dirty="0">
                <a:solidFill>
                  <a:srgbClr val="000000"/>
                </a:solidFill>
                <a:latin typeface="Inter"/>
                <a:ea typeface="Inter"/>
                <a:cs typeface="Inter"/>
                <a:sym typeface="Inter"/>
              </a:rPr>
              <a:t>. </a:t>
            </a:r>
            <a:endParaRPr sz="1200" dirty="0">
              <a:solidFill>
                <a:srgbClr val="000000"/>
              </a:solidFill>
              <a:latin typeface="Inter"/>
              <a:ea typeface="Inter"/>
              <a:cs typeface="Inter"/>
              <a:sym typeface="Inter"/>
            </a:endParaRPr>
          </a:p>
          <a:p>
            <a:pPr marL="0" lvl="0" indent="0" algn="l" rtl="0">
              <a:lnSpc>
                <a:spcPct val="115000"/>
              </a:lnSpc>
              <a:spcBef>
                <a:spcPts val="1000"/>
              </a:spcBef>
              <a:spcAft>
                <a:spcPts val="1000"/>
              </a:spcAft>
              <a:buNone/>
            </a:pPr>
            <a:r>
              <a:rPr lang="en-US" sz="1200" dirty="0">
                <a:solidFill>
                  <a:srgbClr val="000000"/>
                </a:solidFill>
                <a:latin typeface="Inter"/>
                <a:ea typeface="Inter"/>
                <a:cs typeface="Inter"/>
                <a:sym typeface="Inter"/>
              </a:rPr>
              <a:t>For advice, please talk to Working Group chairs or Area Directors.</a:t>
            </a:r>
            <a:endParaRPr sz="1200" dirty="0">
              <a:solidFill>
                <a:srgbClr val="434343"/>
              </a:solidFill>
              <a:latin typeface="Inter"/>
              <a:ea typeface="Inter"/>
              <a:cs typeface="Inter"/>
              <a:sym typeface="Inter"/>
            </a:endParaRPr>
          </a:p>
        </p:txBody>
      </p:sp>
      <p:sp>
        <p:nvSpPr>
          <p:cNvPr id="69" name="Google Shape;69;p12"/>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latin typeface="Inter"/>
                <a:ea typeface="Inter"/>
                <a:cs typeface="Inter"/>
                <a:sym typeface="Inter"/>
              </a:rPr>
              <a:t>Note Well</a:t>
            </a:r>
            <a:endParaRPr sz="2400" i="0" u="none" strike="noStrike" cap="none" dirty="0">
              <a:solidFill>
                <a:schemeClr val="lt1"/>
              </a:solidFill>
              <a:latin typeface="Inter"/>
              <a:ea typeface="Inter"/>
              <a:cs typeface="Inter"/>
              <a:sym typeface="Inter"/>
            </a:endParaRPr>
          </a:p>
        </p:txBody>
      </p:sp>
      <p:pic>
        <p:nvPicPr>
          <p:cNvPr id="71" name="Google Shape;71;p12"/>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093BCE52-5DE2-CE25-66E0-0614F20563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Note Really Well</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meetings, virtual meetings, and mailing lists are intended for professional collaboration and networking, as defined in the IETF Guidelines for Conduct (RFC 7154), the IETF Anti-Harassment Policy, and the IETF Anti-Harassment Procedures (RFC 7776). If you have any concerns about observed behavior, please talk to the </a:t>
            </a:r>
            <a:r>
              <a:rPr lang="en-US" sz="1300" dirty="0" err="1">
                <a:solidFill>
                  <a:srgbClr val="434343"/>
                </a:solidFill>
                <a:latin typeface="Inter"/>
                <a:ea typeface="Inter"/>
                <a:cs typeface="Inter"/>
                <a:sym typeface="Inter"/>
              </a:rPr>
              <a:t>Ombudsteam</a:t>
            </a:r>
            <a:r>
              <a:rPr lang="en-US" sz="1300" dirty="0">
                <a:solidFill>
                  <a:srgbClr val="434343"/>
                </a:solidFill>
                <a:latin typeface="Inter"/>
                <a:ea typeface="Inter"/>
                <a:cs typeface="Inter"/>
                <a:sym typeface="Inter"/>
              </a:rPr>
              <a:t>, who are available if you need confidentiality to raise concerns confident about harassment or other conduct in the IETF.</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IETF strives to create and maintain an environment in which people of many different backgrounds and identities are treated with dignity, decency, and respect. Those who participate in the IETF are expected to behave according to professional standards and demonstrate appropriate workplace behavior.</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participants must not engage in harassment while at IETF meetings, virtual meetings, social events, or on mailing lists. Harassment is unwelcome hostile or intimidating behavior—in particular, speech or behavior that is aggressive or intimidates.</a:t>
            </a:r>
          </a:p>
          <a:p>
            <a:pPr marL="457200" marR="0" lvl="0" indent="-311150" algn="l" rtl="0">
              <a:lnSpc>
                <a:spcPct val="115000"/>
              </a:lnSpc>
              <a:spcBef>
                <a:spcPts val="1000"/>
              </a:spcBef>
              <a:spcAft>
                <a:spcPts val="1000"/>
              </a:spcAft>
              <a:buClr>
                <a:srgbClr val="434343"/>
              </a:buClr>
              <a:buSzPts val="1300"/>
              <a:buFont typeface="Inter"/>
              <a:buChar char="●"/>
            </a:pPr>
            <a:r>
              <a:rPr lang="en-US" sz="1300" dirty="0">
                <a:solidFill>
                  <a:srgbClr val="434343"/>
                </a:solidFill>
                <a:latin typeface="Inter"/>
                <a:ea typeface="Inter"/>
                <a:cs typeface="Inter"/>
                <a:sym typeface="Inter"/>
              </a:rPr>
              <a:t>If you believe you have been harassed, notice that someone else is being harassed,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or have any other concerns, you are encouraged to raise your concern in confidence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with one of the Ombudspersons.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IETF 125 Meeting Tips</a:t>
            </a:r>
            <a:endParaRPr lang="en-US" sz="2400" dirty="0">
              <a:solidFill>
                <a:srgbClr val="FFFFFF"/>
              </a:solidFill>
            </a:endParaRPr>
          </a:p>
        </p:txBody>
      </p:sp>
      <p:sp>
        <p:nvSpPr>
          <p:cNvPr id="120" name="Google Shape;120;p22"/>
          <p:cNvSpPr txBox="1">
            <a:spLocks noGrp="1"/>
          </p:cNvSpPr>
          <p:nvPr>
            <p:ph type="body" idx="1"/>
          </p:nvPr>
        </p:nvSpPr>
        <p:spPr>
          <a:xfrm>
            <a:off x="331800" y="1896950"/>
            <a:ext cx="8480400" cy="2727300"/>
          </a:xfrm>
          <a:prstGeom prst="rect">
            <a:avLst/>
          </a:prstGeom>
          <a:noFill/>
          <a:ln>
            <a:noFill/>
          </a:ln>
        </p:spPr>
        <p:txBody>
          <a:bodyPr spcFirstLastPara="1" wrap="square" lIns="91400" tIns="91400" rIns="91400" bIns="91400" anchor="t" anchorCtr="0">
            <a:noAutofit/>
          </a:bodyPr>
          <a:lstStyle/>
          <a:p>
            <a:pPr marL="0" lvl="0" indent="0" algn="l" rtl="0">
              <a:lnSpc>
                <a:spcPct val="110000"/>
              </a:lnSpc>
              <a:spcBef>
                <a:spcPts val="300"/>
              </a:spcBef>
              <a:spcAft>
                <a:spcPts val="0"/>
              </a:spcAft>
              <a:buNone/>
            </a:pPr>
            <a:r>
              <a:rPr lang="en-US" sz="1600" b="1" dirty="0">
                <a:solidFill>
                  <a:srgbClr val="000000"/>
                </a:solidFill>
              </a:rPr>
              <a:t>In-person participants</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to sign into the session via </a:t>
            </a:r>
            <a:r>
              <a:rPr lang="en-US" sz="1600" dirty="0" err="1">
                <a:solidFill>
                  <a:srgbClr val="000000"/>
                </a:solidFill>
              </a:rPr>
              <a:t>Datatracker</a:t>
            </a:r>
            <a:r>
              <a:rPr lang="en-US" sz="1600" dirty="0">
                <a:solidFill>
                  <a:srgbClr val="000000"/>
                </a:solidFill>
              </a:rPr>
              <a:t> or the QR Code in this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a:t>
            </a:r>
            <a:r>
              <a:rPr lang="en-US" sz="1600" dirty="0" err="1">
                <a:solidFill>
                  <a:srgbClr val="000000"/>
                </a:solidFill>
              </a:rPr>
              <a:t>Meetecho</a:t>
            </a:r>
            <a:r>
              <a:rPr lang="en-US" sz="1600" dirty="0">
                <a:solidFill>
                  <a:srgbClr val="000000"/>
                </a:solidFill>
              </a:rPr>
              <a:t> (usually the “</a:t>
            </a:r>
            <a:r>
              <a:rPr lang="en-US" sz="1600" dirty="0" err="1">
                <a:solidFill>
                  <a:srgbClr val="000000"/>
                </a:solidFill>
              </a:rPr>
              <a:t>Meetecho</a:t>
            </a:r>
            <a:r>
              <a:rPr lang="en-US" sz="1600" dirty="0">
                <a:solidFill>
                  <a:srgbClr val="000000"/>
                </a:solidFill>
              </a:rPr>
              <a:t> lite”) client to:</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join the mic queue</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participate in shows of hands</a:t>
            </a:r>
          </a:p>
          <a:p>
            <a:pPr marL="457200" lvl="0" indent="-330200" algn="l" rtl="0">
              <a:lnSpc>
                <a:spcPct val="110000"/>
              </a:lnSpc>
              <a:spcBef>
                <a:spcPts val="0"/>
              </a:spcBef>
              <a:spcAft>
                <a:spcPts val="0"/>
              </a:spcAft>
              <a:buClr>
                <a:srgbClr val="000000"/>
              </a:buClr>
              <a:buSzPts val="1600"/>
              <a:buChar char="●"/>
            </a:pPr>
            <a:r>
              <a:rPr lang="en-US" sz="1600" i="1" dirty="0">
                <a:solidFill>
                  <a:srgbClr val="000000"/>
                </a:solidFill>
              </a:rPr>
              <a:t>Keep audio and video off if not using the onsite version.</a:t>
            </a:r>
            <a:endParaRPr lang="en-US" sz="1600" b="1" dirty="0">
              <a:solidFill>
                <a:srgbClr val="000000"/>
              </a:solidFill>
            </a:endParaRPr>
          </a:p>
          <a:p>
            <a:pPr marL="0" lvl="0" indent="0" algn="l" rtl="0">
              <a:lnSpc>
                <a:spcPct val="110000"/>
              </a:lnSpc>
              <a:spcBef>
                <a:spcPts val="300"/>
              </a:spcBef>
              <a:spcAft>
                <a:spcPts val="0"/>
              </a:spcAft>
              <a:buNone/>
            </a:pPr>
            <a:r>
              <a:rPr lang="en-US" sz="1600" b="1" dirty="0">
                <a:solidFill>
                  <a:srgbClr val="000000"/>
                </a:solidFill>
              </a:rPr>
              <a:t>Remote participants </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your audio and video are off unless you are chairing or presenting during a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of a headset is strongly recommended.</a:t>
            </a:r>
          </a:p>
        </p:txBody>
      </p:sp>
      <p:sp>
        <p:nvSpPr>
          <p:cNvPr id="121" name="Google Shape;121;p22"/>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p>
            <a:pPr marL="0" marR="0" lvl="0" indent="0" algn="r" defTabSz="914400" rtl="0" eaLnBrk="1" fontAlgn="auto" latinLnBrk="0" hangingPunct="1">
              <a:lnSpc>
                <a:spcPct val="100000"/>
              </a:lnSpc>
              <a:spcBef>
                <a:spcPts val="0"/>
              </a:spcBef>
              <a:spcAft>
                <a:spcPts val="0"/>
              </a:spcAft>
              <a:buClr>
                <a:srgbClr val="737373"/>
              </a:buClr>
              <a:buSzPts val="1000"/>
              <a:buFont typeface="Roboto"/>
              <a:buNone/>
              <a:tabLst/>
              <a:defRPr/>
            </a:pPr>
            <a:fld id="{00000000-1234-1234-1234-123412341234}" type="slidenum">
              <a:rPr kumimoji="0" lang="en-US" sz="1100" b="0" i="0" u="none" strike="noStrike" kern="0" cap="none" spc="0" normalizeH="0" baseline="0" noProof="0">
                <a:ln>
                  <a:noFill/>
                </a:ln>
                <a:solidFill>
                  <a:srgbClr val="737373"/>
                </a:solidFill>
                <a:effectLst/>
                <a:uLnTx/>
                <a:uFillTx/>
                <a:latin typeface="Open Sans Medium"/>
                <a:ea typeface="Open Sans Medium"/>
                <a:cs typeface="Open Sans Medium"/>
                <a:sym typeface="Open Sans Medium"/>
              </a:rPr>
              <a:pPr marL="0" marR="0" lvl="0" indent="0" algn="r" defTabSz="914400" rtl="0" eaLnBrk="1" fontAlgn="auto" latinLnBrk="0" hangingPunct="1">
                <a:lnSpc>
                  <a:spcPct val="100000"/>
                </a:lnSpc>
                <a:spcBef>
                  <a:spcPts val="0"/>
                </a:spcBef>
                <a:spcAft>
                  <a:spcPts val="0"/>
                </a:spcAft>
                <a:buClr>
                  <a:srgbClr val="737373"/>
                </a:buClr>
                <a:buSzPts val="1000"/>
                <a:buFont typeface="Roboto"/>
                <a:buNone/>
                <a:tabLst/>
                <a:defRPr/>
              </a:pPr>
              <a:t>4</a:t>
            </a:fld>
            <a:endParaRPr kumimoji="0" lang="en-US" sz="1100" b="0" i="0" u="none" strike="noStrike" kern="0" cap="none" spc="0" normalizeH="0" baseline="0" noProof="0" dirty="0">
              <a:ln>
                <a:noFill/>
              </a:ln>
              <a:solidFill>
                <a:srgbClr val="737373"/>
              </a:solidFill>
              <a:effectLst/>
              <a:uLnTx/>
              <a:uFillTx/>
              <a:latin typeface="Open Sans Medium"/>
              <a:ea typeface="Open Sans Medium"/>
              <a:cs typeface="Open Sans Medium"/>
              <a:sym typeface="Open Sans Medium"/>
            </a:endParaRPr>
          </a:p>
        </p:txBody>
      </p:sp>
      <p:sp>
        <p:nvSpPr>
          <p:cNvPr id="122" name="Google Shape;122;p22"/>
          <p:cNvSpPr txBox="1"/>
          <p:nvPr/>
        </p:nvSpPr>
        <p:spPr>
          <a:xfrm>
            <a:off x="1709550" y="218225"/>
            <a:ext cx="5724900" cy="6678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10000"/>
              </a:lnSpc>
              <a:spcBef>
                <a:spcPts val="30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E599"/>
                </a:solidFill>
                <a:effectLst/>
                <a:uLnTx/>
                <a:uFillTx/>
                <a:latin typeface="Montserrat"/>
                <a:ea typeface="Montserrat"/>
                <a:cs typeface="Montserrat"/>
                <a:sym typeface="Montserrat"/>
              </a:rPr>
              <a:t>This session is being recorded</a:t>
            </a:r>
          </a:p>
        </p:txBody>
      </p:sp>
      <p:pic>
        <p:nvPicPr>
          <p:cNvPr id="123" name="Google Shape;123;p22"/>
          <p:cNvPicPr preferRelativeResize="0"/>
          <p:nvPr/>
        </p:nvPicPr>
        <p:blipFill>
          <a:blip r:embed="rId3">
            <a:alphaModFix/>
          </a:blip>
          <a:stretch>
            <a:fillRect/>
          </a:stretch>
        </p:blipFill>
        <p:spPr>
          <a:xfrm>
            <a:off x="6916950" y="2699300"/>
            <a:ext cx="1818475" cy="810300"/>
          </a:xfrm>
          <a:prstGeom prst="rect">
            <a:avLst/>
          </a:prstGeom>
          <a:noFill/>
          <a:ln>
            <a:noFill/>
          </a:ln>
          <a:effectLst>
            <a:outerShdw blurRad="114300" dist="19050" dir="3000000" algn="bl" rotWithShape="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Notetaker</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dirty="0"/>
              <a:t>We need a volunteer for notetaking.</a:t>
            </a:r>
          </a:p>
          <a:p>
            <a:r>
              <a:rPr lang="en-US" dirty="0">
                <a:hlinkClick r:id="rId3"/>
              </a:rPr>
              <a:t>https://notes.ietf.org/notes-ietf-125-nmop </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737373"/>
              </a:buClr>
              <a:buSzPts val="1000"/>
              <a:buFont typeface="Roboto"/>
              <a:buNone/>
              <a:tabLst/>
              <a:defRPr/>
            </a:pPr>
            <a:fld id="{00000000-1234-1234-1234-123412341234}" type="slidenum">
              <a:rPr kumimoji="0" lang="en-US" sz="1100" b="0" i="0" u="none" strike="noStrike" kern="0" cap="none" spc="0" normalizeH="0" baseline="0" noProof="0" smtClean="0">
                <a:ln>
                  <a:noFill/>
                </a:ln>
                <a:solidFill>
                  <a:srgbClr val="737373"/>
                </a:solidFill>
                <a:effectLst/>
                <a:uLnTx/>
                <a:uFillTx/>
                <a:latin typeface="Open Sans Medium"/>
                <a:ea typeface="Open Sans Medium"/>
                <a:cs typeface="Open Sans Medium"/>
                <a:sym typeface="Open Sans Medium"/>
              </a:rPr>
              <a:pPr marL="0" marR="0" lvl="0" indent="0" algn="r" defTabSz="914400" rtl="0" eaLnBrk="1" fontAlgn="auto" latinLnBrk="0" hangingPunct="1">
                <a:lnSpc>
                  <a:spcPct val="100000"/>
                </a:lnSpc>
                <a:spcBef>
                  <a:spcPts val="0"/>
                </a:spcBef>
                <a:spcAft>
                  <a:spcPts val="0"/>
                </a:spcAft>
                <a:buClr>
                  <a:srgbClr val="737373"/>
                </a:buClr>
                <a:buSzPts val="1000"/>
                <a:buFont typeface="Roboto"/>
                <a:buNone/>
                <a:tabLst/>
                <a:defRPr/>
              </a:pPr>
              <a:t>5</a:t>
            </a:fld>
            <a:endParaRPr kumimoji="0" lang="en-US" sz="1100" b="0" i="0" u="none" strike="noStrike" kern="0" cap="none" spc="0" normalizeH="0" baseline="0" noProof="0" dirty="0">
              <a:ln>
                <a:noFill/>
              </a:ln>
              <a:solidFill>
                <a:srgbClr val="737373"/>
              </a:solidFill>
              <a:effectLst/>
              <a:uLnTx/>
              <a:uFillTx/>
              <a:latin typeface="Open Sans Medium"/>
              <a:ea typeface="Open Sans Medium"/>
              <a:cs typeface="Open Sans Medium"/>
              <a:sym typeface="Open Sans Medium"/>
            </a:endParaRPr>
          </a:p>
        </p:txBody>
      </p:sp>
    </p:spTree>
    <p:extLst>
      <p:ext uri="{BB962C8B-B14F-4D97-AF65-F5344CB8AC3E}">
        <p14:creationId xmlns:p14="http://schemas.microsoft.com/office/powerpoint/2010/main" val="3471097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D07583A1-42AD-5036-D05C-4A66EF5CF64A}"/>
            </a:ext>
          </a:extLst>
        </p:cNvPr>
        <p:cNvGrpSpPr/>
        <p:nvPr/>
      </p:nvGrpSpPr>
      <p:grpSpPr>
        <a:xfrm>
          <a:off x="0" y="0"/>
          <a:ext cx="0" cy="0"/>
          <a:chOff x="0" y="0"/>
          <a:chExt cx="0" cy="0"/>
        </a:xfrm>
      </p:grpSpPr>
      <p:sp>
        <p:nvSpPr>
          <p:cNvPr id="69" name="Google Shape;69;p12">
            <a:extLst>
              <a:ext uri="{FF2B5EF4-FFF2-40B4-BE49-F238E27FC236}">
                <a16:creationId xmlns:a16="http://schemas.microsoft.com/office/drawing/2014/main" id="{3A862EC5-80EE-D0BE-6950-881788CE728B}"/>
              </a:ext>
            </a:extLst>
          </p:cNvPr>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latin typeface="Inter"/>
                <a:ea typeface="Inter"/>
                <a:cs typeface="Inter"/>
                <a:sym typeface="Inter"/>
              </a:rPr>
              <a:t>Agenda: Session 1</a:t>
            </a:r>
            <a:endParaRPr sz="2400" i="0" u="none" strike="noStrike" cap="none" dirty="0">
              <a:solidFill>
                <a:schemeClr val="lt1"/>
              </a:solidFill>
              <a:latin typeface="Inter"/>
              <a:ea typeface="Inter"/>
              <a:cs typeface="Inter"/>
              <a:sym typeface="Inter"/>
            </a:endParaRPr>
          </a:p>
        </p:txBody>
      </p:sp>
      <p:sp>
        <p:nvSpPr>
          <p:cNvPr id="2" name="Slide Number Placeholder 1">
            <a:extLst>
              <a:ext uri="{FF2B5EF4-FFF2-40B4-BE49-F238E27FC236}">
                <a16:creationId xmlns:a16="http://schemas.microsoft.com/office/drawing/2014/main" id="{CD06C171-096C-CA5B-4C5D-236D36DE60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5" name="Picture 4">
            <a:extLst>
              <a:ext uri="{FF2B5EF4-FFF2-40B4-BE49-F238E27FC236}">
                <a16:creationId xmlns:a16="http://schemas.microsoft.com/office/drawing/2014/main" id="{0A3BAF73-6291-808C-D649-3286010A1023}"/>
              </a:ext>
            </a:extLst>
          </p:cNvPr>
          <p:cNvPicPr>
            <a:picLocks noChangeAspect="1"/>
          </p:cNvPicPr>
          <p:nvPr/>
        </p:nvPicPr>
        <p:blipFill>
          <a:blip r:embed="rId3"/>
          <a:stretch>
            <a:fillRect/>
          </a:stretch>
        </p:blipFill>
        <p:spPr>
          <a:xfrm>
            <a:off x="352000" y="1414996"/>
            <a:ext cx="8450394" cy="2062299"/>
          </a:xfrm>
          <a:prstGeom prst="rect">
            <a:avLst/>
          </a:prstGeom>
        </p:spPr>
      </p:pic>
    </p:spTree>
    <p:extLst>
      <p:ext uri="{BB962C8B-B14F-4D97-AF65-F5344CB8AC3E}">
        <p14:creationId xmlns:p14="http://schemas.microsoft.com/office/powerpoint/2010/main" val="387387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Resources for </a:t>
            </a:r>
            <a:r>
              <a:rPr lang="en-US" sz="3600" b="0" i="0" u="none" strike="noStrike" cap="none" dirty="0">
                <a:solidFill>
                  <a:srgbClr val="FFFFFF"/>
                </a:solidFill>
                <a:latin typeface="Open Sans"/>
                <a:ea typeface="Open Sans"/>
                <a:cs typeface="Open Sans"/>
                <a:sym typeface="Open Sans"/>
              </a:rPr>
              <a:t>IETF </a:t>
            </a:r>
            <a:r>
              <a:rPr lang="en-US" dirty="0"/>
              <a:t>125 </a:t>
            </a:r>
            <a:r>
              <a:rPr lang="de-CH" dirty="0"/>
              <a:t>Shenzhen</a:t>
            </a:r>
            <a:endParaRPr dirty="0"/>
          </a:p>
          <a:p>
            <a:pPr marL="0" marR="0" lvl="0" indent="0" algn="l" rtl="0">
              <a:lnSpc>
                <a:spcPct val="100000"/>
              </a:lnSpc>
              <a:spcBef>
                <a:spcPts val="0"/>
              </a:spcBef>
              <a:spcAft>
                <a:spcPts val="0"/>
              </a:spcAft>
              <a:buClr>
                <a:srgbClr val="FFFFFF"/>
              </a:buClr>
              <a:buSzPts val="3600"/>
              <a:buFont typeface="Open Sans"/>
              <a:buNone/>
            </a:pPr>
            <a:endParaRPr sz="2400" dirty="0">
              <a:solidFill>
                <a:srgbClr val="FFFFFF"/>
              </a:solidFill>
            </a:endParaRPr>
          </a:p>
        </p:txBody>
      </p:sp>
      <p:sp>
        <p:nvSpPr>
          <p:cNvPr id="129" name="Google Shape;129;p23"/>
          <p:cNvSpPr txBox="1">
            <a:spLocks noGrp="1"/>
          </p:cNvSpPr>
          <p:nvPr>
            <p:ph type="body" idx="1"/>
          </p:nvPr>
        </p:nvSpPr>
        <p:spPr>
          <a:xfrm>
            <a:off x="471900" y="1919074"/>
            <a:ext cx="8222100" cy="2710200"/>
          </a:xfrm>
          <a:prstGeom prst="rect">
            <a:avLst/>
          </a:prstGeom>
          <a:noFill/>
          <a:ln>
            <a:noFill/>
          </a:ln>
        </p:spPr>
        <p:txBody>
          <a:bodyPr spcFirstLastPara="1" wrap="square" lIns="91400" tIns="91400" rIns="91400" bIns="91400" anchor="t" anchorCtr="0">
            <a:noAutofit/>
          </a:bodyPr>
          <a:lstStyle/>
          <a:p>
            <a:pPr marL="457200" marR="0" lvl="0" indent="-342900" algn="l" rtl="0">
              <a:lnSpc>
                <a:spcPct val="110000"/>
              </a:lnSpc>
              <a:spcBef>
                <a:spcPts val="300"/>
              </a:spcBef>
              <a:spcAft>
                <a:spcPts val="0"/>
              </a:spcAft>
              <a:buClr>
                <a:srgbClr val="000000"/>
              </a:buClr>
              <a:buSzPts val="1800"/>
              <a:buChar char="●"/>
            </a:pPr>
            <a:r>
              <a:rPr lang="en-US">
                <a:solidFill>
                  <a:srgbClr val="000000"/>
                </a:solidFill>
              </a:rPr>
              <a:t>Agenda</a:t>
            </a:r>
            <a:br>
              <a:rPr lang="en-US" b="1">
                <a:solidFill>
                  <a:srgbClr val="000000"/>
                </a:solidFill>
              </a:rPr>
            </a:br>
            <a:r>
              <a:rPr lang="en-US" u="sng">
                <a:solidFill>
                  <a:schemeClr val="hlink"/>
                </a:solidFill>
                <a:hlinkClick r:id="rId3"/>
              </a:rPr>
              <a:t>https://datatracker.ietf.org/meeting/agenda</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Meetecho and other information:</a:t>
            </a:r>
            <a:br>
              <a:rPr lang="en-US">
                <a:solidFill>
                  <a:srgbClr val="000000"/>
                </a:solidFill>
              </a:rPr>
            </a:br>
            <a:r>
              <a:rPr lang="en-US" u="sng">
                <a:solidFill>
                  <a:schemeClr val="hlink"/>
                </a:solidFill>
                <a:hlinkClick r:id="rId4"/>
              </a:rPr>
              <a:t>https://www.ietf.org/how/meetings/preparation</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If you need technical assistance, see the Reporting Issues page:</a:t>
            </a:r>
            <a:br>
              <a:rPr lang="en-US">
                <a:solidFill>
                  <a:srgbClr val="000000"/>
                </a:solidFill>
              </a:rPr>
            </a:br>
            <a:r>
              <a:rPr lang="en-US" u="sng">
                <a:solidFill>
                  <a:schemeClr val="hlink"/>
                </a:solidFill>
                <a:hlinkClick r:id="rId5"/>
              </a:rPr>
              <a:t>http://www.ietf.org/how/meetings/issues/</a:t>
            </a:r>
            <a:endParaRPr>
              <a:solidFill>
                <a:srgbClr val="000000"/>
              </a:solidFill>
            </a:endParaRPr>
          </a:p>
        </p:txBody>
      </p:sp>
      <p:sp>
        <p:nvSpPr>
          <p:cNvPr id="130" name="Google Shape;130;p23"/>
          <p:cNvSpPr txBox="1">
            <a:spLocks noGrp="1"/>
          </p:cNvSpPr>
          <p:nvPr>
            <p:ph type="sldNum" idx="12"/>
          </p:nvPr>
        </p:nvSpPr>
        <p:spPr>
          <a:xfrm>
            <a:off x="8694000" y="4724798"/>
            <a:ext cx="378328"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7</a:t>
            </a:fld>
            <a:endParaRPr dirty="0"/>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7222825-62ea-40f3-96b5-5375c07996e2}" enabled="1" method="Privileged" siteId="{90c7a20a-f34b-40bf-bc48-b9253b6f5d20}" removed="0"/>
  <clbl:label id="{20bd2185-7f4f-483c-8403-3480aaa4171f}" enabled="1" method="Standard" siteId="{72adb271-2fc7-4afe-a5ee-9de6a59f6bfb}" removed="0"/>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otalTime>0</TotalTime>
  <Words>1031</Words>
  <Application>Microsoft Office PowerPoint</Application>
  <PresentationFormat>On-screen Show (16:9)</PresentationFormat>
  <Paragraphs>67</Paragraphs>
  <Slides>7</Slides>
  <Notes>7</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Arial</vt:lpstr>
      <vt:lpstr>Inter</vt:lpstr>
      <vt:lpstr>Montserrat</vt:lpstr>
      <vt:lpstr>Open Sans</vt:lpstr>
      <vt:lpstr>Open Sans Medium</vt:lpstr>
      <vt:lpstr>Open Sans SemiBold</vt:lpstr>
      <vt:lpstr>Roboto</vt:lpstr>
      <vt:lpstr>Material</vt:lpstr>
      <vt:lpstr>IETF Template</vt:lpstr>
      <vt:lpstr>Network Management Operations (nmop) WG – Session 1</vt:lpstr>
      <vt:lpstr>Note Well</vt:lpstr>
      <vt:lpstr>Note Really Well</vt:lpstr>
      <vt:lpstr>IETF 125 Meeting Tips</vt:lpstr>
      <vt:lpstr>Notetaker</vt:lpstr>
      <vt:lpstr>Agenda: Session 1</vt:lpstr>
      <vt:lpstr>Resources for IETF 125 Shenzhen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IETF 122 NMOP Chairs Slides</dc:title>
  <dc:creator>BOUCADAIR Mohamed INNOV/NET</dc:creator>
  <cp:lastModifiedBy>Graf Thomas, SCS-INI-NET-VNC-E2E</cp:lastModifiedBy>
  <cp:revision>15</cp:revision>
  <dcterms:modified xsi:type="dcterms:W3CDTF">2026-03-16T00:35:09Z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readonly">
    <vt:lpwstr/>
  </property>
  <property fmtid="{D5CDD505-2E9C-101B-9397-08002B2CF9AE}" pid="3" name="_change">
    <vt:lpwstr/>
  </property>
  <property fmtid="{D5CDD505-2E9C-101B-9397-08002B2CF9AE}" pid="4" name="_full-control">
    <vt:lpwstr/>
  </property>
  <property fmtid="{D5CDD505-2E9C-101B-9397-08002B2CF9AE}" pid="5" name="sflag">
    <vt:lpwstr>1751475423</vt:lpwstr>
  </property>
</Properties>
</file>