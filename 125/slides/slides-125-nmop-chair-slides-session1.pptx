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64" r:id="rId1"/>
    <p:sldMasterId id="2147483668" r:id="rId2"/>
  </p:sldMasterIdLst>
  <p:notesMasterIdLst>
    <p:notesMasterId r:id="rId12"/>
  </p:notesMasterIdLst>
  <p:sldIdLst>
    <p:sldId id="276" r:id="rId3"/>
    <p:sldId id="256" r:id="rId4"/>
    <p:sldId id="281" r:id="rId5"/>
    <p:sldId id="259" r:id="rId6"/>
    <p:sldId id="261" r:id="rId7"/>
    <p:sldId id="278" r:id="rId8"/>
    <p:sldId id="283" r:id="rId9"/>
    <p:sldId id="284" r:id="rId10"/>
    <p:sldId id="260" r:id="rId1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A659D06-233B-4A84-BAB1-FC917D228196}" v="7" dt="2026-03-16T00:35:04.72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60" d="100"/>
          <a:sy n="160" d="100"/>
        </p:scale>
        <p:origin x="784" y="176"/>
      </p:cViewPr>
      <p:guideLst>
        <p:guide orient="horz" pos="164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ADEEF08A-D719-4B50-A383-4105EDA2C206}"/>
    <pc:docChg chg="custSel mod addSld delSld modSld">
      <pc:chgData name="Graf Thomas, SCS-INI-NET-VNC-E2E" userId="487bc3e3-9ce7-4cdd-b7b4-8899ea88d289" providerId="ADAL" clId="{ADEEF08A-D719-4B50-A383-4105EDA2C206}" dt="2026-03-16T00:34:54.732" v="33" actId="20577"/>
      <pc:docMkLst>
        <pc:docMk/>
      </pc:docMkLst>
      <pc:sldChg chg="del">
        <pc:chgData name="Graf Thomas, SCS-INI-NET-VNC-E2E" userId="487bc3e3-9ce7-4cdd-b7b4-8899ea88d289" providerId="ADAL" clId="{ADEEF08A-D719-4B50-A383-4105EDA2C206}" dt="2026-03-16T00:33:00.591" v="26" actId="47"/>
        <pc:sldMkLst>
          <pc:docMk/>
          <pc:sldMk cId="0" sldId="258"/>
        </pc:sldMkLst>
      </pc:sldChg>
      <pc:sldChg chg="add">
        <pc:chgData name="Graf Thomas, SCS-INI-NET-VNC-E2E" userId="487bc3e3-9ce7-4cdd-b7b4-8899ea88d289" providerId="ADAL" clId="{ADEEF08A-D719-4B50-A383-4105EDA2C206}" dt="2026-03-16T00:34:31.635" v="27"/>
        <pc:sldMkLst>
          <pc:docMk/>
          <pc:sldMk cId="0" sldId="259"/>
        </pc:sldMkLst>
      </pc:sldChg>
      <pc:sldChg chg="add">
        <pc:chgData name="Graf Thomas, SCS-INI-NET-VNC-E2E" userId="487bc3e3-9ce7-4cdd-b7b4-8899ea88d289" providerId="ADAL" clId="{ADEEF08A-D719-4B50-A383-4105EDA2C206}" dt="2026-03-16T00:31:09.369" v="19"/>
        <pc:sldMkLst>
          <pc:docMk/>
          <pc:sldMk cId="0" sldId="260"/>
        </pc:sldMkLst>
      </pc:sldChg>
      <pc:sldChg chg="modSp add mod">
        <pc:chgData name="Graf Thomas, SCS-INI-NET-VNC-E2E" userId="487bc3e3-9ce7-4cdd-b7b4-8899ea88d289" providerId="ADAL" clId="{ADEEF08A-D719-4B50-A383-4105EDA2C206}" dt="2026-03-16T00:34:54.732" v="33" actId="20577"/>
        <pc:sldMkLst>
          <pc:docMk/>
          <pc:sldMk cId="3471097262" sldId="261"/>
        </pc:sldMkLst>
        <pc:spChg chg="mod">
          <ac:chgData name="Graf Thomas, SCS-INI-NET-VNC-E2E" userId="487bc3e3-9ce7-4cdd-b7b4-8899ea88d289" providerId="ADAL" clId="{ADEEF08A-D719-4B50-A383-4105EDA2C206}" dt="2026-03-16T00:34:54.732" v="33" actId="20577"/>
          <ac:spMkLst>
            <pc:docMk/>
            <pc:sldMk cId="3471097262" sldId="261"/>
            <ac:spMk id="3" creationId="{DA4A6F5D-9442-B583-BAB9-5A102B90EC22}"/>
          </ac:spMkLst>
        </pc:spChg>
      </pc:sldChg>
      <pc:sldChg chg="modSp mod">
        <pc:chgData name="Graf Thomas, SCS-INI-NET-VNC-E2E" userId="487bc3e3-9ce7-4cdd-b7b4-8899ea88d289" providerId="ADAL" clId="{ADEEF08A-D719-4B50-A383-4105EDA2C206}" dt="2026-03-16T00:26:03.620" v="12" actId="20577"/>
        <pc:sldMkLst>
          <pc:docMk/>
          <pc:sldMk cId="0" sldId="276"/>
        </pc:sldMkLst>
        <pc:spChg chg="mod">
          <ac:chgData name="Graf Thomas, SCS-INI-NET-VNC-E2E" userId="487bc3e3-9ce7-4cdd-b7b4-8899ea88d289" providerId="ADAL" clId="{ADEEF08A-D719-4B50-A383-4105EDA2C206}" dt="2026-03-16T00:26:03.620" v="12" actId="20577"/>
          <ac:spMkLst>
            <pc:docMk/>
            <pc:sldMk cId="0" sldId="276"/>
            <ac:spMk id="100" creationId="{00000000-0000-0000-0000-000000000000}"/>
          </ac:spMkLst>
        </pc:spChg>
      </pc:sldChg>
      <pc:sldChg chg="del">
        <pc:chgData name="Graf Thomas, SCS-INI-NET-VNC-E2E" userId="487bc3e3-9ce7-4cdd-b7b4-8899ea88d289" providerId="ADAL" clId="{ADEEF08A-D719-4B50-A383-4105EDA2C206}" dt="2026-03-16T00:30:25.888" v="18" actId="47"/>
        <pc:sldMkLst>
          <pc:docMk/>
          <pc:sldMk cId="4020374104" sldId="277"/>
        </pc:sldMkLst>
      </pc:sldChg>
      <pc:sldChg chg="addSp delSp modSp mod">
        <pc:chgData name="Graf Thomas, SCS-INI-NET-VNC-E2E" userId="487bc3e3-9ce7-4cdd-b7b4-8899ea88d289" providerId="ADAL" clId="{ADEEF08A-D719-4B50-A383-4105EDA2C206}" dt="2026-03-16T00:29:44.360" v="17" actId="14100"/>
        <pc:sldMkLst>
          <pc:docMk/>
          <pc:sldMk cId="3873870168" sldId="278"/>
        </pc:sldMkLst>
        <pc:picChg chg="del">
          <ac:chgData name="Graf Thomas, SCS-INI-NET-VNC-E2E" userId="487bc3e3-9ce7-4cdd-b7b4-8899ea88d289" providerId="ADAL" clId="{ADEEF08A-D719-4B50-A383-4105EDA2C206}" dt="2026-03-16T00:29:35.280" v="14" actId="478"/>
          <ac:picMkLst>
            <pc:docMk/>
            <pc:sldMk cId="3873870168" sldId="278"/>
            <ac:picMk id="3" creationId="{1FE22749-978F-230A-2C82-B42414055769}"/>
          </ac:picMkLst>
        </pc:picChg>
        <pc:picChg chg="add mod">
          <ac:chgData name="Graf Thomas, SCS-INI-NET-VNC-E2E" userId="487bc3e3-9ce7-4cdd-b7b4-8899ea88d289" providerId="ADAL" clId="{ADEEF08A-D719-4B50-A383-4105EDA2C206}" dt="2026-03-16T00:29:44.360" v="17" actId="14100"/>
          <ac:picMkLst>
            <pc:docMk/>
            <pc:sldMk cId="3873870168" sldId="278"/>
            <ac:picMk id="5" creationId="{0A3BAF73-6291-808C-D649-3286010A1023}"/>
          </ac:picMkLst>
        </pc:picChg>
      </pc:sldChg>
      <pc:sldChg chg="modSp del mod">
        <pc:chgData name="Graf Thomas, SCS-INI-NET-VNC-E2E" userId="487bc3e3-9ce7-4cdd-b7b4-8899ea88d289" providerId="ADAL" clId="{ADEEF08A-D719-4B50-A383-4105EDA2C206}" dt="2026-03-16T00:34:34.267" v="28" actId="47"/>
        <pc:sldMkLst>
          <pc:docMk/>
          <pc:sldMk cId="1619678016" sldId="280"/>
        </pc:sldMkLst>
        <pc:spChg chg="mod">
          <ac:chgData name="Graf Thomas, SCS-INI-NET-VNC-E2E" userId="487bc3e3-9ce7-4cdd-b7b4-8899ea88d289" providerId="ADAL" clId="{ADEEF08A-D719-4B50-A383-4105EDA2C206}" dt="2026-03-16T00:26:20.766" v="13" actId="20577"/>
          <ac:spMkLst>
            <pc:docMk/>
            <pc:sldMk cId="1619678016" sldId="280"/>
            <ac:spMk id="69" creationId="{E1870915-5CC2-61FE-6865-3145DCF074BE}"/>
          </ac:spMkLst>
        </pc:spChg>
      </pc:sldChg>
      <pc:sldChg chg="add del">
        <pc:chgData name="Graf Thomas, SCS-INI-NET-VNC-E2E" userId="487bc3e3-9ce7-4cdd-b7b4-8899ea88d289" providerId="ADAL" clId="{ADEEF08A-D719-4B50-A383-4105EDA2C206}" dt="2026-03-16T00:32:58.385" v="25"/>
        <pc:sldMkLst>
          <pc:docMk/>
          <pc:sldMk cId="0" sldId="281"/>
        </pc:sldMkLst>
      </pc:sldChg>
      <pc:sldChg chg="delSp add del mod">
        <pc:chgData name="Graf Thomas, SCS-INI-NET-VNC-E2E" userId="487bc3e3-9ce7-4cdd-b7b4-8899ea88d289" providerId="ADAL" clId="{ADEEF08A-D719-4B50-A383-4105EDA2C206}" dt="2026-03-16T00:32:51.261" v="24" actId="47"/>
        <pc:sldMkLst>
          <pc:docMk/>
          <pc:sldMk cId="609936168" sldId="281"/>
        </pc:sldMkLst>
        <pc:picChg chg="del">
          <ac:chgData name="Graf Thomas, SCS-INI-NET-VNC-E2E" userId="487bc3e3-9ce7-4cdd-b7b4-8899ea88d289" providerId="ADAL" clId="{ADEEF08A-D719-4B50-A383-4105EDA2C206}" dt="2026-03-16T00:32:34.879" v="23" actId="478"/>
          <ac:picMkLst>
            <pc:docMk/>
            <pc:sldMk cId="609936168" sldId="281"/>
            <ac:picMk id="71" creationId="{F8BD4ADA-9CD0-55D7-76AE-75E246A971E0}"/>
          </ac:picMkLst>
        </pc:picChg>
      </pc:sldChg>
      <pc:sldChg chg="del">
        <pc:chgData name="Graf Thomas, SCS-INI-NET-VNC-E2E" userId="487bc3e3-9ce7-4cdd-b7b4-8899ea88d289" providerId="ADAL" clId="{ADEEF08A-D719-4B50-A383-4105EDA2C206}" dt="2026-03-16T00:30:25.888" v="18" actId="47"/>
        <pc:sldMkLst>
          <pc:docMk/>
          <pc:sldMk cId="1293646540" sldId="281"/>
        </pc:sldMkLst>
      </pc:sldChg>
      <pc:sldChg chg="del">
        <pc:chgData name="Graf Thomas, SCS-INI-NET-VNC-E2E" userId="487bc3e3-9ce7-4cdd-b7b4-8899ea88d289" providerId="ADAL" clId="{ADEEF08A-D719-4B50-A383-4105EDA2C206}" dt="2026-03-16T00:30:25.888" v="18" actId="47"/>
        <pc:sldMkLst>
          <pc:docMk/>
          <pc:sldMk cId="1765196037" sldId="282"/>
        </pc:sldMkLst>
      </pc:sldChg>
      <pc:sldChg chg="del">
        <pc:chgData name="Graf Thomas, SCS-INI-NET-VNC-E2E" userId="487bc3e3-9ce7-4cdd-b7b4-8899ea88d289" providerId="ADAL" clId="{ADEEF08A-D719-4B50-A383-4105EDA2C206}" dt="2026-03-16T00:30:25.888" v="18" actId="47"/>
        <pc:sldMkLst>
          <pc:docMk/>
          <pc:sldMk cId="385604894" sldId="283"/>
        </pc:sldMkLst>
      </pc:sldChg>
      <pc:sldMasterChg chg="delSldLayout">
        <pc:chgData name="Graf Thomas, SCS-INI-NET-VNC-E2E" userId="487bc3e3-9ce7-4cdd-b7b4-8899ea88d289" providerId="ADAL" clId="{ADEEF08A-D719-4B50-A383-4105EDA2C206}" dt="2026-03-16T00:33:00.591" v="26" actId="47"/>
        <pc:sldMasterMkLst>
          <pc:docMk/>
          <pc:sldMasterMk cId="0" sldId="2147483664"/>
        </pc:sldMasterMkLst>
        <pc:sldLayoutChg chg="del">
          <pc:chgData name="Graf Thomas, SCS-INI-NET-VNC-E2E" userId="487bc3e3-9ce7-4cdd-b7b4-8899ea88d289" providerId="ADAL" clId="{ADEEF08A-D719-4B50-A383-4105EDA2C206}" dt="2026-03-16T00:30:25.888" v="18" actId="47"/>
          <pc:sldLayoutMkLst>
            <pc:docMk/>
            <pc:sldMasterMk cId="0" sldId="2147483664"/>
            <pc:sldLayoutMk cId="0" sldId="2147483649"/>
          </pc:sldLayoutMkLst>
        </pc:sldLayoutChg>
        <pc:sldLayoutChg chg="del">
          <pc:chgData name="Graf Thomas, SCS-INI-NET-VNC-E2E" userId="487bc3e3-9ce7-4cdd-b7b4-8899ea88d289" providerId="ADAL" clId="{ADEEF08A-D719-4B50-A383-4105EDA2C206}" dt="2026-03-16T00:33:00.591" v="26" actId="47"/>
          <pc:sldLayoutMkLst>
            <pc:docMk/>
            <pc:sldMasterMk cId="0" sldId="2147483664"/>
            <pc:sldLayoutMk cId="545161684" sldId="2147483666"/>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32da09745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1" name="Google Shape;111;g232da09745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a9a795ffb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7" name="Google Shape;117;ga9a795ffbb_0_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14236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a:extLst>
            <a:ext uri="{FF2B5EF4-FFF2-40B4-BE49-F238E27FC236}">
              <a16:creationId xmlns:a16="http://schemas.microsoft.com/office/drawing/2014/main" id="{C501353B-1DE2-126C-2436-25310EEDEADA}"/>
            </a:ext>
          </a:extLst>
        </p:cNvPr>
        <p:cNvGrpSpPr/>
        <p:nvPr/>
      </p:nvGrpSpPr>
      <p:grpSpPr>
        <a:xfrm>
          <a:off x="0" y="0"/>
          <a:ext cx="0" cy="0"/>
          <a:chOff x="0" y="0"/>
          <a:chExt cx="0" cy="0"/>
        </a:xfrm>
      </p:grpSpPr>
      <p:sp>
        <p:nvSpPr>
          <p:cNvPr id="66" name="Google Shape;66;g7179d949db_7_60:notes">
            <a:extLst>
              <a:ext uri="{FF2B5EF4-FFF2-40B4-BE49-F238E27FC236}">
                <a16:creationId xmlns:a16="http://schemas.microsoft.com/office/drawing/2014/main" id="{E6A6B4E0-F8A0-1267-D6B2-FF10454B10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a:extLst>
              <a:ext uri="{FF2B5EF4-FFF2-40B4-BE49-F238E27FC236}">
                <a16:creationId xmlns:a16="http://schemas.microsoft.com/office/drawing/2014/main" id="{0353B784-13AB-227A-A05F-86EA1838AF6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11555132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a:extLst>
            <a:ext uri="{FF2B5EF4-FFF2-40B4-BE49-F238E27FC236}">
              <a16:creationId xmlns:a16="http://schemas.microsoft.com/office/drawing/2014/main" id="{1CCA91F2-C8BC-2B48-CF08-6EBC486FFB1C}"/>
            </a:ext>
          </a:extLst>
        </p:cNvPr>
        <p:cNvGrpSpPr/>
        <p:nvPr/>
      </p:nvGrpSpPr>
      <p:grpSpPr>
        <a:xfrm>
          <a:off x="0" y="0"/>
          <a:ext cx="0" cy="0"/>
          <a:chOff x="0" y="0"/>
          <a:chExt cx="0" cy="0"/>
        </a:xfrm>
      </p:grpSpPr>
      <p:sp>
        <p:nvSpPr>
          <p:cNvPr id="66" name="Google Shape;66;g7179d949db_7_60:notes">
            <a:extLst>
              <a:ext uri="{FF2B5EF4-FFF2-40B4-BE49-F238E27FC236}">
                <a16:creationId xmlns:a16="http://schemas.microsoft.com/office/drawing/2014/main" id="{F14264FF-CC51-9F3E-2958-38589B17431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a:extLst>
              <a:ext uri="{FF2B5EF4-FFF2-40B4-BE49-F238E27FC236}">
                <a16:creationId xmlns:a16="http://schemas.microsoft.com/office/drawing/2014/main" id="{EFCE72B6-2F25-ADE3-88C1-5CA6B5B046B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35658680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a:extLst>
            <a:ext uri="{FF2B5EF4-FFF2-40B4-BE49-F238E27FC236}">
              <a16:creationId xmlns:a16="http://schemas.microsoft.com/office/drawing/2014/main" id="{ACC18DE4-3674-1039-B625-313C22FADB08}"/>
            </a:ext>
          </a:extLst>
        </p:cNvPr>
        <p:cNvGrpSpPr/>
        <p:nvPr/>
      </p:nvGrpSpPr>
      <p:grpSpPr>
        <a:xfrm>
          <a:off x="0" y="0"/>
          <a:ext cx="0" cy="0"/>
          <a:chOff x="0" y="0"/>
          <a:chExt cx="0" cy="0"/>
        </a:xfrm>
      </p:grpSpPr>
      <p:sp>
        <p:nvSpPr>
          <p:cNvPr id="66" name="Google Shape;66;g7179d949db_7_60:notes">
            <a:extLst>
              <a:ext uri="{FF2B5EF4-FFF2-40B4-BE49-F238E27FC236}">
                <a16:creationId xmlns:a16="http://schemas.microsoft.com/office/drawing/2014/main" id="{D5692017-F6A7-695D-3BC6-3EE40A5EE1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 name="Google Shape;67;g7179d949db_7_60:notes">
            <a:extLst>
              <a:ext uri="{FF2B5EF4-FFF2-40B4-BE49-F238E27FC236}">
                <a16:creationId xmlns:a16="http://schemas.microsoft.com/office/drawing/2014/main" id="{4F335127-292C-A2D2-94BD-1C02E390254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extLst>
      <p:ext uri="{BB962C8B-B14F-4D97-AF65-F5344CB8AC3E}">
        <p14:creationId xmlns:p14="http://schemas.microsoft.com/office/powerpoint/2010/main" val="32317347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71a2a6c778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6" name="Google Shape;126;g71a2a6c778_0_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_AND_BODY" type="tx">
  <p:cSld name="TITLE_AND_BODY">
    <p:bg>
      <p:bgPr>
        <a:solidFill>
          <a:srgbClr val="002D3C"/>
        </a:solidFill>
        <a:effectLst/>
      </p:bgPr>
    </p:bg>
    <p:spTree>
      <p:nvGrpSpPr>
        <p:cNvPr id="1" name="Shape 14"/>
        <p:cNvGrpSpPr/>
        <p:nvPr/>
      </p:nvGrpSpPr>
      <p:grpSpPr>
        <a:xfrm>
          <a:off x="0" y="0"/>
          <a:ext cx="0" cy="0"/>
          <a:chOff x="0" y="0"/>
          <a:chExt cx="0" cy="0"/>
        </a:xfrm>
      </p:grpSpPr>
      <p:sp>
        <p:nvSpPr>
          <p:cNvPr id="15" name="Google Shape;15;p3"/>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6" name="Google Shape;16;p3"/>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17" name="Google Shape;17;p3"/>
          <p:cNvSpPr txBox="1">
            <a:spLocks noGrp="1"/>
          </p:cNvSpPr>
          <p:nvPr>
            <p:ph type="title"/>
          </p:nvPr>
        </p:nvSpPr>
        <p:spPr>
          <a:xfrm>
            <a:off x="471900" y="218223"/>
            <a:ext cx="8222100" cy="1288203"/>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600"/>
              <a:buFont typeface="Inter"/>
              <a:buNone/>
              <a:defRPr sz="36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8" name="Google Shape;18;p3"/>
          <p:cNvSpPr txBox="1">
            <a:spLocks noGrp="1"/>
          </p:cNvSpPr>
          <p:nvPr>
            <p:ph type="body" idx="1"/>
          </p:nvPr>
        </p:nvSpPr>
        <p:spPr>
          <a:xfrm>
            <a:off x="471900" y="1919074"/>
            <a:ext cx="8222100"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19" name="Google Shape;19;p3"/>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60378000"/>
      </p:ext>
    </p:extLst>
  </p:cSld>
  <p:clrMapOvr>
    <a:masterClrMapping/>
  </p:clrMapOvr>
  <p:extLst>
    <p:ext uri="{DCECCB84-F9BA-43D5-87BE-67443E8EF086}">
      <p15:sldGuideLst xmlns:p15="http://schemas.microsoft.com/office/powerpoint/2012/main">
        <p15:guide id="1" orient="horz" pos="1620">
          <p15:clr>
            <a:srgbClr val="F9AD4C"/>
          </p15:clr>
        </p15:guide>
        <p15:guide id="2" pos="2880">
          <p15:clr>
            <a:srgbClr val="F9AD4C"/>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extLst>
      <p:ext uri="{BB962C8B-B14F-4D97-AF65-F5344CB8AC3E}">
        <p14:creationId xmlns:p14="http://schemas.microsoft.com/office/powerpoint/2010/main" val="2141861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extLst>
      <p:ext uri="{BB962C8B-B14F-4D97-AF65-F5344CB8AC3E}">
        <p14:creationId xmlns:p14="http://schemas.microsoft.com/office/powerpoint/2010/main" val="35887745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33368722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04826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extLst>
      <p:ext uri="{BB962C8B-B14F-4D97-AF65-F5344CB8AC3E}">
        <p14:creationId xmlns:p14="http://schemas.microsoft.com/office/powerpoint/2010/main" val="42319848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8279409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68169587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250557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0589154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 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5051670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theme" Target="../theme/theme2.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67" r:id="rId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846969092"/>
      </p:ext>
    </p:extLst>
  </p:cSld>
  <p:clrMap bg1="lt1" tx1="dk1" bg2="dk2" tx2="lt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hyperlink" Target="https://notes.ietf.org/notes-ietf-125-nmop" TargetMode="External"/><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hyperlink" Target="https://datatracker.ietf.org/meeting/agenda" TargetMode="External"/><Relationship Id="rId2" Type="http://schemas.openxmlformats.org/officeDocument/2006/relationships/notesSlide" Target="../notesSlides/notesSlide9.xml"/><Relationship Id="rId1" Type="http://schemas.openxmlformats.org/officeDocument/2006/relationships/slideLayout" Target="../slideLayouts/slideLayout6.xml"/><Relationship Id="rId5" Type="http://schemas.openxmlformats.org/officeDocument/2006/relationships/hyperlink" Target="http://www.ietf.org/how/meetings/issues/" TargetMode="External"/><Relationship Id="rId4" Type="http://schemas.openxmlformats.org/officeDocument/2006/relationships/hyperlink" Target="https://www.ietf.org/how/meetings/prepar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75" y="1217444"/>
            <a:ext cx="7635000" cy="9336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4200"/>
              <a:buFont typeface="Open Sans"/>
              <a:buNone/>
            </a:pPr>
            <a:r>
              <a:rPr lang="en-US" sz="3600" dirty="0">
                <a:latin typeface="Inter"/>
                <a:ea typeface="Inter"/>
                <a:cs typeface="Inter"/>
                <a:sym typeface="Inter"/>
              </a:rPr>
              <a:t>Network Management Operations (</a:t>
            </a:r>
            <a:r>
              <a:rPr lang="en-US" sz="3600" dirty="0" err="1">
                <a:latin typeface="Inter"/>
                <a:ea typeface="Inter"/>
                <a:cs typeface="Inter"/>
                <a:sym typeface="Inter"/>
              </a:rPr>
              <a:t>nmop</a:t>
            </a:r>
            <a:r>
              <a:rPr lang="en-US" sz="3600" dirty="0">
                <a:latin typeface="Inter"/>
                <a:ea typeface="Inter"/>
                <a:cs typeface="Inter"/>
                <a:sym typeface="Inter"/>
              </a:rPr>
              <a:t>) WG – Session 1</a:t>
            </a:r>
            <a:endParaRPr sz="3600" dirty="0">
              <a:latin typeface="Inter"/>
              <a:ea typeface="Inter"/>
              <a:cs typeface="Inter"/>
              <a:sym typeface="Inter"/>
            </a:endParaRPr>
          </a:p>
        </p:txBody>
      </p:sp>
      <p:sp>
        <p:nvSpPr>
          <p:cNvPr id="100" name="Google Shape;100;p19"/>
          <p:cNvSpPr txBox="1"/>
          <p:nvPr/>
        </p:nvSpPr>
        <p:spPr>
          <a:xfrm>
            <a:off x="754475" y="2201927"/>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IETF 125, March 18th, 2026</a:t>
            </a:r>
            <a:endParaRPr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dirty="0">
                <a:latin typeface="Inter"/>
                <a:ea typeface="Inter"/>
                <a:cs typeface="Inter"/>
                <a:sym typeface="Inter"/>
              </a:rPr>
              <a:t>Internet Engineering Task Force</a:t>
            </a:r>
            <a:endParaRPr sz="1200" dirty="0">
              <a:latin typeface="Inter"/>
              <a:ea typeface="Inter"/>
              <a:cs typeface="Inter"/>
              <a:sym typeface="Inter"/>
            </a:endParaRPr>
          </a:p>
          <a:p>
            <a:pPr marL="0" lvl="0" indent="0" algn="l" rtl="0">
              <a:spcBef>
                <a:spcPts val="0"/>
              </a:spcBef>
              <a:spcAft>
                <a:spcPts val="0"/>
              </a:spcAft>
              <a:buNone/>
            </a:pPr>
            <a:r>
              <a:rPr lang="en-US" sz="1200" dirty="0">
                <a:latin typeface="Inter"/>
                <a:ea typeface="Inter"/>
                <a:cs typeface="Inter"/>
                <a:sym typeface="Inter"/>
              </a:rPr>
              <a:t>© 2025 IETF Trust </a:t>
            </a:r>
            <a:endParaRPr sz="1200" dirty="0">
              <a:latin typeface="Inter"/>
              <a:ea typeface="Inter"/>
              <a:cs typeface="Inter"/>
              <a:sym typeface="Inter"/>
            </a:endParaRPr>
          </a:p>
          <a:p>
            <a:pPr marL="0" lvl="0" indent="0" algn="l" rtl="0">
              <a:spcBef>
                <a:spcPts val="0"/>
              </a:spcBef>
              <a:spcAft>
                <a:spcPts val="0"/>
              </a:spcAft>
              <a:buNone/>
            </a:pPr>
            <a:r>
              <a:rPr lang="en-US" sz="1200" dirty="0">
                <a:latin typeface="Inter"/>
                <a:ea typeface="Inter"/>
                <a:cs typeface="Inter"/>
                <a:sym typeface="Inter"/>
              </a:rPr>
              <a:t>Production by </a:t>
            </a:r>
            <a:r>
              <a:rPr lang="en-US" sz="1200" dirty="0" err="1">
                <a:latin typeface="Inter"/>
                <a:ea typeface="Inter"/>
                <a:cs typeface="Inter"/>
                <a:sym typeface="Inter"/>
              </a:rPr>
              <a:t>Meetecho</a:t>
            </a:r>
            <a:endParaRPr sz="1200" dirty="0">
              <a:latin typeface="Inter"/>
              <a:ea typeface="Inter"/>
              <a:cs typeface="Inter"/>
              <a:sym typeface="Inter"/>
            </a:endParaRPr>
          </a:p>
        </p:txBody>
      </p:sp>
      <p:sp>
        <p:nvSpPr>
          <p:cNvPr id="102" name="Google Shape;102;p19"/>
          <p:cNvSpPr txBox="1"/>
          <p:nvPr/>
        </p:nvSpPr>
        <p:spPr>
          <a:xfrm>
            <a:off x="754475" y="3414667"/>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This session is being recorded</a:t>
            </a:r>
            <a:endParaRPr sz="2400" dirty="0">
              <a:solidFill>
                <a:srgbClr val="FFF2CC"/>
              </a:solidFill>
              <a:latin typeface="Inter"/>
              <a:ea typeface="Inter"/>
              <a:cs typeface="Inter"/>
              <a:sym typeface="Inter"/>
            </a:endParaRPr>
          </a:p>
        </p:txBody>
      </p:sp>
      <p:sp>
        <p:nvSpPr>
          <p:cNvPr id="2" name="Google Shape;100;p19">
            <a:extLst>
              <a:ext uri="{FF2B5EF4-FFF2-40B4-BE49-F238E27FC236}">
                <a16:creationId xmlns:a16="http://schemas.microsoft.com/office/drawing/2014/main" id="{87CFB194-3778-2C13-73F3-088D1012F1B1}"/>
              </a:ext>
            </a:extLst>
          </p:cNvPr>
          <p:cNvSpPr txBox="1"/>
          <p:nvPr/>
        </p:nvSpPr>
        <p:spPr>
          <a:xfrm>
            <a:off x="783511" y="2913334"/>
            <a:ext cx="6331663"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WG Chairs: B. Claise, R. Rahman</a:t>
            </a:r>
            <a:endParaRPr sz="1100" dirty="0">
              <a:latin typeface="Inter"/>
              <a:ea typeface="Inter"/>
              <a:cs typeface="Inter"/>
              <a:sym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70" name="Google Shape;70;p12"/>
          <p:cNvSpPr txBox="1"/>
          <p:nvPr/>
        </p:nvSpPr>
        <p:spPr>
          <a:xfrm>
            <a:off x="311700" y="740167"/>
            <a:ext cx="8520600" cy="4100700"/>
          </a:xfrm>
          <a:prstGeom prst="rect">
            <a:avLst/>
          </a:prstGeom>
          <a:noFill/>
          <a:ln>
            <a:noFill/>
          </a:ln>
        </p:spPr>
        <p:txBody>
          <a:bodyPr spcFirstLastPara="1" wrap="square" lIns="91400" tIns="45700" rIns="91400" bIns="45700" anchor="t" anchorCtr="0">
            <a:noAutofit/>
          </a:bodyPr>
          <a:lstStyle/>
          <a:p>
            <a:pPr marL="0" lvl="0" indent="0" algn="l" rtl="0">
              <a:lnSpc>
                <a:spcPct val="115000"/>
              </a:lnSpc>
              <a:spcBef>
                <a:spcPts val="0"/>
              </a:spcBef>
              <a:spcAft>
                <a:spcPts val="0"/>
              </a:spcAft>
              <a:buNone/>
            </a:pPr>
            <a:r>
              <a:rPr lang="en-US" sz="1200" dirty="0">
                <a:solidFill>
                  <a:srgbClr val="000000"/>
                </a:solidFill>
                <a:latin typeface="Inter"/>
                <a:ea typeface="Inter"/>
                <a:cs typeface="Inter"/>
                <a:sym typeface="Inter"/>
              </a:rPr>
              <a:t>By participating in the IETF you agree to follow IETF processes and policies. This Note Well is a reminder </a:t>
            </a:r>
            <a:br>
              <a:rPr lang="en-US" sz="1200" dirty="0">
                <a:solidFill>
                  <a:srgbClr val="000000"/>
                </a:solidFill>
                <a:latin typeface="Inter"/>
                <a:ea typeface="Inter"/>
                <a:cs typeface="Inter"/>
                <a:sym typeface="Inter"/>
              </a:rPr>
            </a:br>
            <a:r>
              <a:rPr lang="en-US" sz="1200" dirty="0">
                <a:solidFill>
                  <a:srgbClr val="000000"/>
                </a:solidFill>
                <a:latin typeface="Inter"/>
                <a:ea typeface="Inter"/>
                <a:cs typeface="Inter"/>
                <a:sym typeface="Inter"/>
              </a:rPr>
              <a:t>of some of those policies. For a linked version of this text, please visit </a:t>
            </a:r>
            <a:r>
              <a:rPr lang="en-US" sz="1200" i="1" dirty="0" err="1">
                <a:solidFill>
                  <a:srgbClr val="000000"/>
                </a:solidFill>
                <a:latin typeface="Inter"/>
                <a:ea typeface="Inter"/>
                <a:cs typeface="Inter"/>
                <a:sym typeface="Inter"/>
              </a:rPr>
              <a:t>www.ietf.org</a:t>
            </a:r>
            <a:r>
              <a:rPr lang="en-US" sz="1200" i="1" dirty="0">
                <a:solidFill>
                  <a:srgbClr val="000000"/>
                </a:solidFill>
                <a:latin typeface="Inter"/>
                <a:ea typeface="Inter"/>
                <a:cs typeface="Inter"/>
                <a:sym typeface="Inter"/>
              </a:rPr>
              <a:t>/note-well </a:t>
            </a:r>
            <a:r>
              <a:rPr lang="en-US" sz="1200" dirty="0">
                <a:solidFill>
                  <a:srgbClr val="000000"/>
                </a:solidFill>
                <a:latin typeface="Inter"/>
                <a:ea typeface="Inter"/>
                <a:cs typeface="Inter"/>
                <a:sym typeface="Inter"/>
              </a:rPr>
              <a:t>or use the QR code below.</a:t>
            </a:r>
            <a:endParaRPr sz="1200" dirty="0">
              <a:solidFill>
                <a:srgbClr val="000000"/>
              </a:solidFill>
              <a:latin typeface="Inter"/>
              <a:ea typeface="Inter"/>
              <a:cs typeface="Inter"/>
              <a:sym typeface="Inter"/>
            </a:endParaRPr>
          </a:p>
          <a:p>
            <a:pPr marL="171450" lvl="0" indent="-171450" algn="l" rtl="0">
              <a:lnSpc>
                <a:spcPct val="115000"/>
              </a:lnSpc>
              <a:spcBef>
                <a:spcPts val="1000"/>
              </a:spcBef>
              <a:spcAft>
                <a:spcPts val="0"/>
              </a:spcAft>
              <a:buFont typeface="Arial" panose="020B0604020202020204" pitchFamily="34" charset="0"/>
              <a:buChar char="•"/>
            </a:pPr>
            <a:r>
              <a:rPr lang="en-US" sz="1200" dirty="0">
                <a:solidFill>
                  <a:srgbClr val="000000"/>
                </a:solidFill>
                <a:latin typeface="Inter"/>
                <a:ea typeface="Inter"/>
                <a:cs typeface="Inter"/>
                <a:sym typeface="Inter"/>
              </a:rPr>
              <a:t>IETF participants are expected to behave in a professional manner and extend respect and courtesy to their colleagues at all times (see </a:t>
            </a:r>
            <a:r>
              <a:rPr lang="en-US" sz="1200" i="1" dirty="0">
                <a:solidFill>
                  <a:srgbClr val="000000"/>
                </a:solidFill>
                <a:latin typeface="Inter"/>
                <a:ea typeface="Inter"/>
                <a:cs typeface="Inter"/>
                <a:sym typeface="Inter"/>
              </a:rPr>
              <a:t>RFC 7154: IETF Guidelines for Conduct and IETF Anti-Harassment Policy</a:t>
            </a:r>
            <a:r>
              <a:rPr lang="en-US" sz="1200" dirty="0">
                <a:solidFill>
                  <a:srgbClr val="000000"/>
                </a:solidFill>
                <a:latin typeface="Inter"/>
                <a:ea typeface="Inter"/>
                <a:cs typeface="Inter"/>
                <a:sym typeface="Inter"/>
              </a:rPr>
              <a:t>). If you have any concerns about behavior, please contact the </a:t>
            </a:r>
            <a:r>
              <a:rPr lang="en-US" sz="1200" i="1" dirty="0" err="1">
                <a:solidFill>
                  <a:srgbClr val="000000"/>
                </a:solidFill>
                <a:latin typeface="Inter"/>
                <a:ea typeface="Inter"/>
                <a:cs typeface="Inter"/>
                <a:sym typeface="Inter"/>
              </a:rPr>
              <a:t>Ombudsteam</a:t>
            </a:r>
            <a:r>
              <a:rPr lang="en-US" sz="1200" dirty="0">
                <a:solidFill>
                  <a:srgbClr val="000000"/>
                </a:solidFill>
                <a:latin typeface="Inter"/>
                <a:ea typeface="Inter"/>
                <a:cs typeface="Inter"/>
                <a:sym typeface="Inter"/>
              </a:rPr>
              <a:t> who have a duty of confidentiality and extensive powers to act, as set out in </a:t>
            </a:r>
            <a:r>
              <a:rPr lang="en-US" sz="1200" i="1" dirty="0">
                <a:solidFill>
                  <a:srgbClr val="000000"/>
                </a:solidFill>
                <a:latin typeface="Inter"/>
                <a:ea typeface="Inter"/>
                <a:cs typeface="Inter"/>
                <a:sym typeface="Inter"/>
              </a:rPr>
              <a:t>RFC 7776: IETF Anti-Harassment Procedures</a:t>
            </a:r>
            <a:r>
              <a:rPr lang="en-US" sz="1200" dirty="0">
                <a:solidFill>
                  <a:srgbClr val="000000"/>
                </a:solidFill>
                <a:latin typeface="Inter"/>
                <a:ea typeface="Inter"/>
                <a:cs typeface="Inter"/>
                <a:sym typeface="Inter"/>
              </a:rPr>
              <a:t>.</a:t>
            </a:r>
            <a:endParaRPr sz="1200" dirty="0">
              <a:solidFill>
                <a:srgbClr val="000000"/>
              </a:solidFill>
              <a:latin typeface="Inter"/>
              <a:ea typeface="Inter"/>
              <a:cs typeface="Inter"/>
              <a:sym typeface="Inter"/>
            </a:endParaRPr>
          </a:p>
          <a:p>
            <a:pPr marL="171450" lvl="0" indent="-171450" algn="l" rtl="0">
              <a:lnSpc>
                <a:spcPct val="115000"/>
              </a:lnSpc>
              <a:spcBef>
                <a:spcPts val="1000"/>
              </a:spcBef>
              <a:spcAft>
                <a:spcPts val="0"/>
              </a:spcAft>
              <a:buFont typeface="Arial" panose="020B0604020202020204" pitchFamily="34" charset="0"/>
              <a:buChar char="•"/>
            </a:pPr>
            <a:r>
              <a:rPr lang="en-US" sz="1200" dirty="0">
                <a:solidFill>
                  <a:srgbClr val="000000"/>
                </a:solidFill>
                <a:latin typeface="Inter"/>
                <a:ea typeface="Inter"/>
                <a:cs typeface="Inter"/>
                <a:sym typeface="Inter"/>
              </a:rPr>
              <a:t>If you are aware that any IETF contribution (as defined in </a:t>
            </a:r>
            <a:r>
              <a:rPr lang="en-US" sz="1200" i="1" dirty="0">
                <a:solidFill>
                  <a:srgbClr val="000000"/>
                </a:solidFill>
                <a:latin typeface="Inter"/>
                <a:ea typeface="Inter"/>
                <a:cs typeface="Inter"/>
                <a:sym typeface="Inter"/>
              </a:rPr>
              <a:t>RFC 5378: Rights Contributors Provide to the IETF Trust</a:t>
            </a:r>
            <a:r>
              <a:rPr lang="en-US" sz="1200" dirty="0">
                <a:solidFill>
                  <a:srgbClr val="000000"/>
                </a:solidFill>
                <a:latin typeface="Inter"/>
                <a:ea typeface="Inter"/>
                <a:cs typeface="Inter"/>
                <a:sym typeface="Inter"/>
              </a:rPr>
              <a:t>) is covered by patents or patent applications that are owned or controlled by you, your employer or your sponsor, you must disclose that fact, or not participate in the discussion </a:t>
            </a:r>
            <a:br>
              <a:rPr lang="en-US" sz="1200" dirty="0">
                <a:solidFill>
                  <a:srgbClr val="000000"/>
                </a:solidFill>
                <a:latin typeface="Inter"/>
                <a:ea typeface="Inter"/>
                <a:cs typeface="Inter"/>
                <a:sym typeface="Inter"/>
              </a:rPr>
            </a:br>
            <a:r>
              <a:rPr lang="en-US" sz="1200" dirty="0">
                <a:solidFill>
                  <a:srgbClr val="000000"/>
                </a:solidFill>
                <a:latin typeface="Inter"/>
                <a:ea typeface="Inter"/>
                <a:cs typeface="Inter"/>
                <a:sym typeface="Inter"/>
              </a:rPr>
              <a:t>(see </a:t>
            </a:r>
            <a:r>
              <a:rPr lang="en-US" sz="1200" i="1" dirty="0">
                <a:solidFill>
                  <a:srgbClr val="000000"/>
                </a:solidFill>
                <a:latin typeface="Inter"/>
                <a:ea typeface="Inter"/>
                <a:cs typeface="Inter"/>
                <a:sym typeface="Inter"/>
              </a:rPr>
              <a:t>RFC 8179: Intellectual Property Rights in IETF Technology</a:t>
            </a:r>
            <a:r>
              <a:rPr lang="en-US" sz="1200" dirty="0">
                <a:solidFill>
                  <a:srgbClr val="000000"/>
                </a:solidFill>
                <a:latin typeface="Inter"/>
                <a:ea typeface="Inter"/>
                <a:cs typeface="Inter"/>
                <a:sym typeface="Inter"/>
              </a:rPr>
              <a:t>).</a:t>
            </a:r>
            <a:endParaRPr sz="1200" dirty="0">
              <a:solidFill>
                <a:srgbClr val="000000"/>
              </a:solidFill>
              <a:latin typeface="Inter"/>
              <a:ea typeface="Inter"/>
              <a:cs typeface="Inter"/>
              <a:sym typeface="Inter"/>
            </a:endParaRPr>
          </a:p>
          <a:p>
            <a:pPr marL="171450" lvl="0" indent="-171450" algn="l" rtl="0">
              <a:lnSpc>
                <a:spcPct val="115000"/>
              </a:lnSpc>
              <a:spcBef>
                <a:spcPts val="1000"/>
              </a:spcBef>
              <a:spcAft>
                <a:spcPts val="0"/>
              </a:spcAft>
              <a:buFont typeface="Arial" panose="020B0604020202020204" pitchFamily="34" charset="0"/>
              <a:buChar char="•"/>
            </a:pPr>
            <a:r>
              <a:rPr lang="en-US" sz="1200" dirty="0">
                <a:solidFill>
                  <a:srgbClr val="000000"/>
                </a:solidFill>
                <a:latin typeface="Inter"/>
                <a:ea typeface="Inter"/>
                <a:cs typeface="Inter"/>
                <a:sym typeface="Inter"/>
              </a:rPr>
              <a:t>For detailed process information consult </a:t>
            </a:r>
            <a:r>
              <a:rPr lang="en-US" sz="1200" i="1" dirty="0">
                <a:solidFill>
                  <a:srgbClr val="000000"/>
                </a:solidFill>
                <a:latin typeface="Inter"/>
                <a:ea typeface="Inter"/>
                <a:cs typeface="Inter"/>
                <a:sym typeface="Inter"/>
              </a:rPr>
              <a:t>RFC 2026: Internet Standards Process </a:t>
            </a:r>
            <a:r>
              <a:rPr lang="en-US" sz="1200" dirty="0">
                <a:solidFill>
                  <a:srgbClr val="000000"/>
                </a:solidFill>
                <a:latin typeface="Inter"/>
                <a:ea typeface="Inter"/>
                <a:cs typeface="Inter"/>
                <a:sym typeface="Inter"/>
              </a:rPr>
              <a:t>and </a:t>
            </a:r>
            <a:br>
              <a:rPr lang="en-US" sz="1200" dirty="0">
                <a:solidFill>
                  <a:srgbClr val="000000"/>
                </a:solidFill>
                <a:latin typeface="Inter"/>
                <a:ea typeface="Inter"/>
                <a:cs typeface="Inter"/>
                <a:sym typeface="Inter"/>
              </a:rPr>
            </a:br>
            <a:r>
              <a:rPr lang="en-US" sz="1200" i="1" dirty="0">
                <a:solidFill>
                  <a:srgbClr val="000000"/>
                </a:solidFill>
                <a:latin typeface="Inter"/>
                <a:ea typeface="Inter"/>
                <a:cs typeface="Inter"/>
                <a:sym typeface="Inter"/>
              </a:rPr>
              <a:t>RFC 2418: IETF Working Group Guidelines and Procedures </a:t>
            </a:r>
            <a:r>
              <a:rPr lang="en-US" sz="1200" dirty="0">
                <a:solidFill>
                  <a:srgbClr val="000000"/>
                </a:solidFill>
                <a:latin typeface="Inter"/>
                <a:ea typeface="Inter"/>
                <a:cs typeface="Inter"/>
                <a:sym typeface="Inter"/>
              </a:rPr>
              <a:t>and updates to those.</a:t>
            </a:r>
            <a:endParaRPr sz="1200" dirty="0">
              <a:solidFill>
                <a:srgbClr val="000000"/>
              </a:solidFill>
              <a:latin typeface="Inter"/>
              <a:ea typeface="Inter"/>
              <a:cs typeface="Inter"/>
              <a:sym typeface="Inter"/>
            </a:endParaRPr>
          </a:p>
          <a:p>
            <a:pPr marL="171450" lvl="0" indent="-171450" algn="l" rtl="0">
              <a:lnSpc>
                <a:spcPct val="115000"/>
              </a:lnSpc>
              <a:spcBef>
                <a:spcPts val="1000"/>
              </a:spcBef>
              <a:spcAft>
                <a:spcPts val="0"/>
              </a:spcAft>
              <a:buFont typeface="Arial" panose="020B0604020202020204" pitchFamily="34" charset="0"/>
              <a:buChar char="•"/>
            </a:pPr>
            <a:r>
              <a:rPr lang="en-US" sz="1200" dirty="0">
                <a:solidFill>
                  <a:srgbClr val="000000"/>
                </a:solidFill>
                <a:latin typeface="Inter"/>
                <a:ea typeface="Inter"/>
                <a:cs typeface="Inter"/>
                <a:sym typeface="Inter"/>
              </a:rPr>
              <a:t>The IETF routinely makes public written, audio, video, and photographic records </a:t>
            </a:r>
            <a:br>
              <a:rPr lang="en-US" sz="1200" dirty="0">
                <a:solidFill>
                  <a:srgbClr val="000000"/>
                </a:solidFill>
                <a:latin typeface="Inter"/>
                <a:ea typeface="Inter"/>
                <a:cs typeface="Inter"/>
                <a:sym typeface="Inter"/>
              </a:rPr>
            </a:br>
            <a:r>
              <a:rPr lang="en-US" sz="1200" dirty="0">
                <a:solidFill>
                  <a:srgbClr val="000000"/>
                </a:solidFill>
                <a:latin typeface="Inter"/>
                <a:ea typeface="Inter"/>
                <a:cs typeface="Inter"/>
                <a:sym typeface="Inter"/>
              </a:rPr>
              <a:t>of IETF activities, including your personal information as set out in the </a:t>
            </a:r>
            <a:r>
              <a:rPr lang="en-US" sz="1200" i="1" dirty="0">
                <a:solidFill>
                  <a:srgbClr val="000000"/>
                </a:solidFill>
                <a:latin typeface="Inter"/>
                <a:ea typeface="Inter"/>
                <a:cs typeface="Inter"/>
                <a:sym typeface="Inter"/>
              </a:rPr>
              <a:t>IETF Privacy Statement</a:t>
            </a:r>
            <a:r>
              <a:rPr lang="en-US" sz="1200" dirty="0">
                <a:solidFill>
                  <a:srgbClr val="000000"/>
                </a:solidFill>
                <a:latin typeface="Inter"/>
                <a:ea typeface="Inter"/>
                <a:cs typeface="Inter"/>
                <a:sym typeface="Inter"/>
              </a:rPr>
              <a:t>. </a:t>
            </a:r>
            <a:endParaRPr sz="1200" dirty="0">
              <a:solidFill>
                <a:srgbClr val="000000"/>
              </a:solidFill>
              <a:latin typeface="Inter"/>
              <a:ea typeface="Inter"/>
              <a:cs typeface="Inter"/>
              <a:sym typeface="Inter"/>
            </a:endParaRPr>
          </a:p>
          <a:p>
            <a:pPr marL="0" lvl="0" indent="0" algn="l" rtl="0">
              <a:lnSpc>
                <a:spcPct val="115000"/>
              </a:lnSpc>
              <a:spcBef>
                <a:spcPts val="1000"/>
              </a:spcBef>
              <a:spcAft>
                <a:spcPts val="1000"/>
              </a:spcAft>
              <a:buNone/>
            </a:pPr>
            <a:r>
              <a:rPr lang="en-US" sz="1200" dirty="0">
                <a:solidFill>
                  <a:srgbClr val="000000"/>
                </a:solidFill>
                <a:latin typeface="Inter"/>
                <a:ea typeface="Inter"/>
                <a:cs typeface="Inter"/>
                <a:sym typeface="Inter"/>
              </a:rPr>
              <a:t>For advice, please talk to Working Group chairs or Area Directors.</a:t>
            </a:r>
            <a:endParaRPr sz="1200" dirty="0">
              <a:solidFill>
                <a:srgbClr val="434343"/>
              </a:solidFill>
              <a:latin typeface="Inter"/>
              <a:ea typeface="Inter"/>
              <a:cs typeface="Inter"/>
              <a:sym typeface="Inter"/>
            </a:endParaRPr>
          </a:p>
        </p:txBody>
      </p:sp>
      <p:sp>
        <p:nvSpPr>
          <p:cNvPr id="69" name="Google Shape;69;p12"/>
          <p:cNvSpPr txBox="1">
            <a:spLocks noGrp="1"/>
          </p:cNvSpPr>
          <p:nvPr>
            <p:ph type="title"/>
          </p:nvPr>
        </p:nvSpPr>
        <p:spPr>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latin typeface="Inter"/>
                <a:ea typeface="Inter"/>
                <a:cs typeface="Inter"/>
                <a:sym typeface="Inter"/>
              </a:rPr>
              <a:t>Note Well</a:t>
            </a:r>
            <a:endParaRPr sz="2400" i="0" u="none" strike="noStrike" cap="none" dirty="0">
              <a:solidFill>
                <a:schemeClr val="lt1"/>
              </a:solidFill>
              <a:latin typeface="Inter"/>
              <a:ea typeface="Inter"/>
              <a:cs typeface="Inter"/>
              <a:sym typeface="Inter"/>
            </a:endParaRPr>
          </a:p>
        </p:txBody>
      </p:sp>
      <p:pic>
        <p:nvPicPr>
          <p:cNvPr id="71" name="Google Shape;71;p12"/>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
        <p:nvSpPr>
          <p:cNvPr id="2" name="Slide Number Placeholder 1">
            <a:extLst>
              <a:ext uri="{FF2B5EF4-FFF2-40B4-BE49-F238E27FC236}">
                <a16:creationId xmlns:a16="http://schemas.microsoft.com/office/drawing/2014/main" id="{093BCE52-5DE2-CE25-66E0-0614F20563C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2</a:t>
            </a:fld>
            <a:endParaRPr lang="en-US"/>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401925" y="16350"/>
            <a:ext cx="8523000" cy="602700"/>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t>Note Really Well</a:t>
            </a:r>
            <a:endParaRPr lang="en-US" sz="2400" b="0" i="0" u="none" strike="noStrike" cap="none" dirty="0">
              <a:solidFill>
                <a:schemeClr val="lt1"/>
              </a:solidFill>
              <a:latin typeface="Open Sans"/>
              <a:ea typeface="Open Sans"/>
              <a:cs typeface="Open Sans"/>
              <a:sym typeface="Open Sans"/>
            </a:endParaRPr>
          </a:p>
        </p:txBody>
      </p:sp>
      <p:sp>
        <p:nvSpPr>
          <p:cNvPr id="114" name="Google Shape;114;p21"/>
          <p:cNvSpPr txBox="1">
            <a:spLocks noGrp="1"/>
          </p:cNvSpPr>
          <p:nvPr>
            <p:ph type="body" idx="4294967295"/>
          </p:nvPr>
        </p:nvSpPr>
        <p:spPr>
          <a:xfrm>
            <a:off x="401925" y="722400"/>
            <a:ext cx="7871700" cy="3698700"/>
          </a:xfrm>
          <a:prstGeom prst="rect">
            <a:avLst/>
          </a:prstGeom>
          <a:noFill/>
          <a:ln>
            <a:noFill/>
          </a:ln>
        </p:spPr>
        <p:txBody>
          <a:bodyPr spcFirstLastPara="1" wrap="square" lIns="91425" tIns="91425" rIns="91425" bIns="91425" anchor="t" anchorCtr="0">
            <a:noAutofit/>
          </a:bodyPr>
          <a:lstStyle/>
          <a:p>
            <a:pPr marL="457200" marR="0" lvl="0" indent="-311150" algn="l" rtl="0">
              <a:lnSpc>
                <a:spcPct val="115000"/>
              </a:lnSpc>
              <a:spcBef>
                <a:spcPts val="6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meetings, virtual meetings, and mailing lists are intended for professional collaboration and networking, as defined in the IETF Guidelines for Conduct (RFC 7154), the IETF Anti-Harassment Policy, and the IETF Anti-Harassment Procedures (RFC 7776). If you have any concerns about observed behavior, please talk to the </a:t>
            </a:r>
            <a:r>
              <a:rPr lang="en-US" sz="1300" dirty="0" err="1">
                <a:solidFill>
                  <a:srgbClr val="434343"/>
                </a:solidFill>
                <a:latin typeface="Inter"/>
                <a:ea typeface="Inter"/>
                <a:cs typeface="Inter"/>
                <a:sym typeface="Inter"/>
              </a:rPr>
              <a:t>Ombudsteam</a:t>
            </a:r>
            <a:r>
              <a:rPr lang="en-US" sz="1300" dirty="0">
                <a:solidFill>
                  <a:srgbClr val="434343"/>
                </a:solidFill>
                <a:latin typeface="Inter"/>
                <a:ea typeface="Inter"/>
                <a:cs typeface="Inter"/>
                <a:sym typeface="Inter"/>
              </a:rPr>
              <a:t>, who are available if you need confidentiality to raise concerns confident about harassment or other conduct in the IETF.</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The IETF strives to create and maintain an environment in which people of many different backgrounds and identities are treated with dignity, decency, and respect. Those who participate in the IETF are expected to behave according to professional standards and demonstrate appropriate workplace behavior.</a:t>
            </a:r>
          </a:p>
          <a:p>
            <a:pPr marL="457200" marR="0" lvl="0" indent="-311150" algn="l" rtl="0">
              <a:lnSpc>
                <a:spcPct val="115000"/>
              </a:lnSpc>
              <a:spcBef>
                <a:spcPts val="1000"/>
              </a:spcBef>
              <a:spcAft>
                <a:spcPts val="0"/>
              </a:spcAft>
              <a:buClr>
                <a:srgbClr val="434343"/>
              </a:buClr>
              <a:buSzPts val="1300"/>
              <a:buFont typeface="Inter"/>
              <a:buChar char="●"/>
            </a:pPr>
            <a:r>
              <a:rPr lang="en-US" sz="1300" dirty="0">
                <a:solidFill>
                  <a:srgbClr val="434343"/>
                </a:solidFill>
                <a:latin typeface="Inter"/>
                <a:ea typeface="Inter"/>
                <a:cs typeface="Inter"/>
                <a:sym typeface="Inter"/>
              </a:rPr>
              <a:t>IETF participants must not engage in harassment while at IETF meetings, virtual meetings, social events, or on mailing lists. Harassment is unwelcome hostile or intimidating behavior—in particular, speech or behavior that is aggressive or intimidates.</a:t>
            </a:r>
          </a:p>
          <a:p>
            <a:pPr marL="457200" marR="0" lvl="0" indent="-311150" algn="l" rtl="0">
              <a:lnSpc>
                <a:spcPct val="115000"/>
              </a:lnSpc>
              <a:spcBef>
                <a:spcPts val="1000"/>
              </a:spcBef>
              <a:spcAft>
                <a:spcPts val="1000"/>
              </a:spcAft>
              <a:buClr>
                <a:srgbClr val="434343"/>
              </a:buClr>
              <a:buSzPts val="1300"/>
              <a:buFont typeface="Inter"/>
              <a:buChar char="●"/>
            </a:pPr>
            <a:r>
              <a:rPr lang="en-US" sz="1300" dirty="0">
                <a:solidFill>
                  <a:srgbClr val="434343"/>
                </a:solidFill>
                <a:latin typeface="Inter"/>
                <a:ea typeface="Inter"/>
                <a:cs typeface="Inter"/>
                <a:sym typeface="Inter"/>
              </a:rPr>
              <a:t>If you believe you have been harassed, notice that someone else is being harassed,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or have any other concerns, you are encouraged to raise your concern in confidence </a:t>
            </a:r>
            <a:br>
              <a:rPr lang="en-US" sz="1300" dirty="0">
                <a:solidFill>
                  <a:srgbClr val="434343"/>
                </a:solidFill>
                <a:latin typeface="Inter"/>
                <a:ea typeface="Inter"/>
                <a:cs typeface="Inter"/>
                <a:sym typeface="Inter"/>
              </a:rPr>
            </a:br>
            <a:r>
              <a:rPr lang="en-US" sz="1300" dirty="0">
                <a:solidFill>
                  <a:srgbClr val="434343"/>
                </a:solidFill>
                <a:latin typeface="Inter"/>
                <a:ea typeface="Inter"/>
                <a:cs typeface="Inter"/>
                <a:sym typeface="Inter"/>
              </a:rPr>
              <a:t>with one of the Ombudspersons.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IETF 125 Meeting Tips</a:t>
            </a:r>
            <a:endParaRPr lang="en-US" sz="2400" dirty="0">
              <a:solidFill>
                <a:srgbClr val="FFFFFF"/>
              </a:solidFill>
            </a:endParaRPr>
          </a:p>
        </p:txBody>
      </p:sp>
      <p:sp>
        <p:nvSpPr>
          <p:cNvPr id="120" name="Google Shape;120;p22"/>
          <p:cNvSpPr txBox="1">
            <a:spLocks noGrp="1"/>
          </p:cNvSpPr>
          <p:nvPr>
            <p:ph type="body" idx="1"/>
          </p:nvPr>
        </p:nvSpPr>
        <p:spPr>
          <a:xfrm>
            <a:off x="331800" y="1896950"/>
            <a:ext cx="8480400" cy="2727300"/>
          </a:xfrm>
          <a:prstGeom prst="rect">
            <a:avLst/>
          </a:prstGeom>
          <a:noFill/>
          <a:ln>
            <a:noFill/>
          </a:ln>
        </p:spPr>
        <p:txBody>
          <a:bodyPr spcFirstLastPara="1" wrap="square" lIns="91400" tIns="91400" rIns="91400" bIns="91400" anchor="t" anchorCtr="0">
            <a:noAutofit/>
          </a:bodyPr>
          <a:lstStyle/>
          <a:p>
            <a:pPr marL="0" lvl="0" indent="0" algn="l" rtl="0">
              <a:lnSpc>
                <a:spcPct val="110000"/>
              </a:lnSpc>
              <a:spcBef>
                <a:spcPts val="300"/>
              </a:spcBef>
              <a:spcAft>
                <a:spcPts val="0"/>
              </a:spcAft>
              <a:buNone/>
            </a:pPr>
            <a:r>
              <a:rPr lang="en-US" sz="1600" b="1" dirty="0">
                <a:solidFill>
                  <a:srgbClr val="000000"/>
                </a:solidFill>
              </a:rPr>
              <a:t>In-person participants</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to sign into the session via </a:t>
            </a:r>
            <a:r>
              <a:rPr lang="en-US" sz="1600" dirty="0" err="1">
                <a:solidFill>
                  <a:srgbClr val="000000"/>
                </a:solidFill>
              </a:rPr>
              <a:t>Datatracker</a:t>
            </a:r>
            <a:r>
              <a:rPr lang="en-US" sz="1600" dirty="0">
                <a:solidFill>
                  <a:srgbClr val="000000"/>
                </a:solidFill>
              </a:rPr>
              <a:t> or the QR Code in this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a:t>
            </a:r>
            <a:r>
              <a:rPr lang="en-US" sz="1600" dirty="0" err="1">
                <a:solidFill>
                  <a:srgbClr val="000000"/>
                </a:solidFill>
              </a:rPr>
              <a:t>Meetecho</a:t>
            </a:r>
            <a:r>
              <a:rPr lang="en-US" sz="1600" dirty="0">
                <a:solidFill>
                  <a:srgbClr val="000000"/>
                </a:solidFill>
              </a:rPr>
              <a:t> (usually the “</a:t>
            </a:r>
            <a:r>
              <a:rPr lang="en-US" sz="1600" dirty="0" err="1">
                <a:solidFill>
                  <a:srgbClr val="000000"/>
                </a:solidFill>
              </a:rPr>
              <a:t>Meetecho</a:t>
            </a:r>
            <a:r>
              <a:rPr lang="en-US" sz="1600" dirty="0">
                <a:solidFill>
                  <a:srgbClr val="000000"/>
                </a:solidFill>
              </a:rPr>
              <a:t> lite”) client to:</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join the mic queue</a:t>
            </a:r>
          </a:p>
          <a:p>
            <a:pPr marL="914400" lvl="1" indent="-330200" algn="l" rtl="0">
              <a:lnSpc>
                <a:spcPct val="110000"/>
              </a:lnSpc>
              <a:spcBef>
                <a:spcPts val="0"/>
              </a:spcBef>
              <a:spcAft>
                <a:spcPts val="0"/>
              </a:spcAft>
              <a:buClr>
                <a:srgbClr val="000000"/>
              </a:buClr>
              <a:buSzPts val="1600"/>
              <a:buChar char="○"/>
            </a:pPr>
            <a:r>
              <a:rPr lang="en-US" sz="1600" dirty="0">
                <a:solidFill>
                  <a:srgbClr val="000000"/>
                </a:solidFill>
              </a:rPr>
              <a:t>participate in shows of hands</a:t>
            </a:r>
          </a:p>
          <a:p>
            <a:pPr marL="457200" lvl="0" indent="-330200" algn="l" rtl="0">
              <a:lnSpc>
                <a:spcPct val="110000"/>
              </a:lnSpc>
              <a:spcBef>
                <a:spcPts val="0"/>
              </a:spcBef>
              <a:spcAft>
                <a:spcPts val="0"/>
              </a:spcAft>
              <a:buClr>
                <a:srgbClr val="000000"/>
              </a:buClr>
              <a:buSzPts val="1600"/>
              <a:buChar char="●"/>
            </a:pPr>
            <a:r>
              <a:rPr lang="en-US" sz="1600" i="1" dirty="0">
                <a:solidFill>
                  <a:srgbClr val="000000"/>
                </a:solidFill>
              </a:rPr>
              <a:t>Keep audio and video off if not using the onsite version.</a:t>
            </a:r>
            <a:endParaRPr lang="en-US" sz="1600" b="1" dirty="0">
              <a:solidFill>
                <a:srgbClr val="000000"/>
              </a:solidFill>
            </a:endParaRPr>
          </a:p>
          <a:p>
            <a:pPr marL="0" lvl="0" indent="0" algn="l" rtl="0">
              <a:lnSpc>
                <a:spcPct val="110000"/>
              </a:lnSpc>
              <a:spcBef>
                <a:spcPts val="300"/>
              </a:spcBef>
              <a:spcAft>
                <a:spcPts val="0"/>
              </a:spcAft>
              <a:buNone/>
            </a:pPr>
            <a:r>
              <a:rPr lang="en-US" sz="1600" b="1" dirty="0">
                <a:solidFill>
                  <a:srgbClr val="000000"/>
                </a:solidFill>
              </a:rPr>
              <a:t>Remote participants </a:t>
            </a:r>
            <a:endParaRPr lang="en-US" sz="1600" dirty="0">
              <a:solidFill>
                <a:srgbClr val="000000"/>
              </a:solidFill>
            </a:endParaRPr>
          </a:p>
          <a:p>
            <a:pPr marL="457200" lvl="0" indent="-330200" algn="l" rtl="0">
              <a:lnSpc>
                <a:spcPct val="110000"/>
              </a:lnSpc>
              <a:spcBef>
                <a:spcPts val="300"/>
              </a:spcBef>
              <a:spcAft>
                <a:spcPts val="0"/>
              </a:spcAft>
              <a:buClr>
                <a:srgbClr val="000000"/>
              </a:buClr>
              <a:buSzPts val="1600"/>
              <a:buChar char="●"/>
            </a:pPr>
            <a:r>
              <a:rPr lang="en-US" sz="1600" dirty="0">
                <a:solidFill>
                  <a:srgbClr val="000000"/>
                </a:solidFill>
              </a:rPr>
              <a:t>Make sure your audio and video are off unless you are chairing or presenting during a session.</a:t>
            </a:r>
          </a:p>
          <a:p>
            <a:pPr marL="457200" lvl="0" indent="-330200" algn="l" rtl="0">
              <a:lnSpc>
                <a:spcPct val="110000"/>
              </a:lnSpc>
              <a:spcBef>
                <a:spcPts val="0"/>
              </a:spcBef>
              <a:spcAft>
                <a:spcPts val="0"/>
              </a:spcAft>
              <a:buClr>
                <a:srgbClr val="000000"/>
              </a:buClr>
              <a:buSzPts val="1600"/>
              <a:buChar char="●"/>
            </a:pPr>
            <a:r>
              <a:rPr lang="en-US" sz="1600" dirty="0">
                <a:solidFill>
                  <a:srgbClr val="000000"/>
                </a:solidFill>
              </a:rPr>
              <a:t>Use of a headset is strongly recommended.</a:t>
            </a:r>
          </a:p>
        </p:txBody>
      </p:sp>
      <p:sp>
        <p:nvSpPr>
          <p:cNvPr id="121" name="Google Shape;121;p22"/>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p>
            <a:pPr marL="0" marR="0" lvl="0" indent="0" algn="r" defTabSz="914400" rtl="0" eaLnBrk="1" fontAlgn="auto" latinLnBrk="0" hangingPunct="1">
              <a:lnSpc>
                <a:spcPct val="100000"/>
              </a:lnSpc>
              <a:spcBef>
                <a:spcPts val="0"/>
              </a:spcBef>
              <a:spcAft>
                <a:spcPts val="0"/>
              </a:spcAft>
              <a:buClr>
                <a:srgbClr val="737373"/>
              </a:buClr>
              <a:buSzPts val="1000"/>
              <a:buFont typeface="Roboto"/>
              <a:buNone/>
              <a:tabLst/>
              <a:defRPr/>
            </a:pPr>
            <a:fld id="{00000000-1234-1234-1234-123412341234}" type="slidenum">
              <a:rPr kumimoji="0" lang="en-US" sz="1100" b="0" i="0" u="none" strike="noStrike" kern="0" cap="none" spc="0" normalizeH="0" baseline="0" noProof="0">
                <a:ln>
                  <a:noFill/>
                </a:ln>
                <a:solidFill>
                  <a:srgbClr val="737373"/>
                </a:solidFill>
                <a:effectLst/>
                <a:uLnTx/>
                <a:uFillTx/>
                <a:latin typeface="Open Sans Medium"/>
                <a:ea typeface="Open Sans Medium"/>
                <a:cs typeface="Open Sans Medium"/>
                <a:sym typeface="Open Sans Medium"/>
              </a:rPr>
              <a:pPr marL="0" marR="0" lvl="0" indent="0" algn="r" defTabSz="914400" rtl="0" eaLnBrk="1" fontAlgn="auto" latinLnBrk="0" hangingPunct="1">
                <a:lnSpc>
                  <a:spcPct val="100000"/>
                </a:lnSpc>
                <a:spcBef>
                  <a:spcPts val="0"/>
                </a:spcBef>
                <a:spcAft>
                  <a:spcPts val="0"/>
                </a:spcAft>
                <a:buClr>
                  <a:srgbClr val="737373"/>
                </a:buClr>
                <a:buSzPts val="1000"/>
                <a:buFont typeface="Roboto"/>
                <a:buNone/>
                <a:tabLst/>
                <a:defRPr/>
              </a:pPr>
              <a:t>4</a:t>
            </a:fld>
            <a:endParaRPr kumimoji="0" lang="en-US" sz="1100" b="0" i="0" u="none" strike="noStrike" kern="0" cap="none" spc="0" normalizeH="0" baseline="0" noProof="0" dirty="0">
              <a:ln>
                <a:noFill/>
              </a:ln>
              <a:solidFill>
                <a:srgbClr val="737373"/>
              </a:solidFill>
              <a:effectLst/>
              <a:uLnTx/>
              <a:uFillTx/>
              <a:latin typeface="Open Sans Medium"/>
              <a:ea typeface="Open Sans Medium"/>
              <a:cs typeface="Open Sans Medium"/>
              <a:sym typeface="Open Sans Medium"/>
            </a:endParaRPr>
          </a:p>
        </p:txBody>
      </p:sp>
      <p:sp>
        <p:nvSpPr>
          <p:cNvPr id="122" name="Google Shape;122;p22"/>
          <p:cNvSpPr txBox="1"/>
          <p:nvPr/>
        </p:nvSpPr>
        <p:spPr>
          <a:xfrm>
            <a:off x="1709550" y="218225"/>
            <a:ext cx="5724900" cy="667800"/>
          </a:xfrm>
          <a:prstGeom prst="rect">
            <a:avLst/>
          </a:prstGeom>
          <a:noFill/>
          <a:ln>
            <a:noFill/>
          </a:ln>
        </p:spPr>
        <p:txBody>
          <a:bodyPr spcFirstLastPara="1" wrap="square" lIns="91425" tIns="91425" rIns="91425" bIns="91425" anchor="t" anchorCtr="0">
            <a:noAutofit/>
          </a:bodyPr>
          <a:lstStyle/>
          <a:p>
            <a:pPr marL="0" marR="0" lvl="0" indent="0" algn="ctr" defTabSz="914400" rtl="0" eaLnBrk="1" fontAlgn="auto" latinLnBrk="0" hangingPunct="1">
              <a:lnSpc>
                <a:spcPct val="110000"/>
              </a:lnSpc>
              <a:spcBef>
                <a:spcPts val="300"/>
              </a:spcBef>
              <a:spcAft>
                <a:spcPts val="0"/>
              </a:spcAft>
              <a:buClr>
                <a:srgbClr val="000000"/>
              </a:buClr>
              <a:buSzTx/>
              <a:buFont typeface="Arial"/>
              <a:buNone/>
              <a:tabLst/>
              <a:defRPr/>
            </a:pPr>
            <a:r>
              <a:rPr kumimoji="0" lang="en-US" sz="2400" b="0" i="0" u="none" strike="noStrike" kern="0" cap="none" spc="0" normalizeH="0" baseline="0" noProof="0" dirty="0">
                <a:ln>
                  <a:noFill/>
                </a:ln>
                <a:solidFill>
                  <a:srgbClr val="FFE599"/>
                </a:solidFill>
                <a:effectLst/>
                <a:uLnTx/>
                <a:uFillTx/>
                <a:latin typeface="Montserrat"/>
                <a:ea typeface="Montserrat"/>
                <a:cs typeface="Montserrat"/>
                <a:sym typeface="Montserrat"/>
              </a:rPr>
              <a:t>This session is being recorded</a:t>
            </a:r>
          </a:p>
        </p:txBody>
      </p:sp>
      <p:pic>
        <p:nvPicPr>
          <p:cNvPr id="123" name="Google Shape;123;p22"/>
          <p:cNvPicPr preferRelativeResize="0"/>
          <p:nvPr/>
        </p:nvPicPr>
        <p:blipFill>
          <a:blip r:embed="rId3">
            <a:alphaModFix/>
          </a:blip>
          <a:stretch>
            <a:fillRect/>
          </a:stretch>
        </p:blipFill>
        <p:spPr>
          <a:xfrm>
            <a:off x="6916950" y="2699300"/>
            <a:ext cx="1818475" cy="810300"/>
          </a:xfrm>
          <a:prstGeom prst="rect">
            <a:avLst/>
          </a:prstGeom>
          <a:noFill/>
          <a:ln>
            <a:noFill/>
          </a:ln>
          <a:effectLst>
            <a:outerShdw blurRad="114300" dist="19050" dir="3000000" algn="bl" rotWithShape="0">
              <a:srgbClr val="000000">
                <a:alpha val="50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E15DC-F076-98D2-1BDF-BC01FEC9047B}"/>
              </a:ext>
            </a:extLst>
          </p:cNvPr>
          <p:cNvSpPr>
            <a:spLocks noGrp="1"/>
          </p:cNvSpPr>
          <p:nvPr>
            <p:ph type="title"/>
          </p:nvPr>
        </p:nvSpPr>
        <p:spPr/>
        <p:txBody>
          <a:bodyPr anchor="ctr"/>
          <a:lstStyle/>
          <a:p>
            <a:r>
              <a:rPr lang="en-US" dirty="0"/>
              <a:t>Notetaker</a:t>
            </a:r>
          </a:p>
        </p:txBody>
      </p:sp>
      <p:sp>
        <p:nvSpPr>
          <p:cNvPr id="3" name="Text Placeholder 2">
            <a:extLst>
              <a:ext uri="{FF2B5EF4-FFF2-40B4-BE49-F238E27FC236}">
                <a16:creationId xmlns:a16="http://schemas.microsoft.com/office/drawing/2014/main" id="{DA4A6F5D-9442-B583-BAB9-5A102B90EC22}"/>
              </a:ext>
            </a:extLst>
          </p:cNvPr>
          <p:cNvSpPr>
            <a:spLocks noGrp="1"/>
          </p:cNvSpPr>
          <p:nvPr>
            <p:ph type="body" idx="1"/>
          </p:nvPr>
        </p:nvSpPr>
        <p:spPr/>
        <p:txBody>
          <a:bodyPr/>
          <a:lstStyle/>
          <a:p>
            <a:r>
              <a:rPr lang="en-US" dirty="0"/>
              <a:t>We need a volunteer for notetaking.</a:t>
            </a:r>
          </a:p>
          <a:p>
            <a:r>
              <a:rPr lang="en-US" dirty="0">
                <a:hlinkClick r:id="rId3"/>
              </a:rPr>
              <a:t>https://notes.ietf.org/notes-ietf-125-nmop </a:t>
            </a:r>
            <a:endParaRPr lang="en-US" dirty="0"/>
          </a:p>
        </p:txBody>
      </p:sp>
      <p:sp>
        <p:nvSpPr>
          <p:cNvPr id="4" name="Slide Number Placeholder 3">
            <a:extLst>
              <a:ext uri="{FF2B5EF4-FFF2-40B4-BE49-F238E27FC236}">
                <a16:creationId xmlns:a16="http://schemas.microsoft.com/office/drawing/2014/main" id="{D216BDC7-4DE9-D9D5-0725-BBEF6CFE8DF1}"/>
              </a:ext>
            </a:extLst>
          </p:cNvPr>
          <p:cNvSpPr>
            <a:spLocks noGrp="1"/>
          </p:cNvSpPr>
          <p:nvPr>
            <p:ph type="sldNum" idx="12"/>
          </p:nvPr>
        </p:nvSpPr>
        <p:spPr/>
        <p:txBody>
          <a:bodyPr/>
          <a:lstStyle/>
          <a:p>
            <a:pPr marL="0" marR="0" lvl="0" indent="0" algn="r" defTabSz="914400" rtl="0" eaLnBrk="1" fontAlgn="auto" latinLnBrk="0" hangingPunct="1">
              <a:lnSpc>
                <a:spcPct val="100000"/>
              </a:lnSpc>
              <a:spcBef>
                <a:spcPts val="0"/>
              </a:spcBef>
              <a:spcAft>
                <a:spcPts val="0"/>
              </a:spcAft>
              <a:buClr>
                <a:srgbClr val="737373"/>
              </a:buClr>
              <a:buSzPts val="1000"/>
              <a:buFont typeface="Roboto"/>
              <a:buNone/>
              <a:tabLst/>
              <a:defRPr/>
            </a:pPr>
            <a:fld id="{00000000-1234-1234-1234-123412341234}" type="slidenum">
              <a:rPr kumimoji="0" lang="en-US" sz="1100" b="0" i="0" u="none" strike="noStrike" kern="0" cap="none" spc="0" normalizeH="0" baseline="0" noProof="0" smtClean="0">
                <a:ln>
                  <a:noFill/>
                </a:ln>
                <a:solidFill>
                  <a:srgbClr val="737373"/>
                </a:solidFill>
                <a:effectLst/>
                <a:uLnTx/>
                <a:uFillTx/>
                <a:latin typeface="Open Sans Medium"/>
                <a:ea typeface="Open Sans Medium"/>
                <a:cs typeface="Open Sans Medium"/>
                <a:sym typeface="Open Sans Medium"/>
              </a:rPr>
              <a:pPr marL="0" marR="0" lvl="0" indent="0" algn="r" defTabSz="914400" rtl="0" eaLnBrk="1" fontAlgn="auto" latinLnBrk="0" hangingPunct="1">
                <a:lnSpc>
                  <a:spcPct val="100000"/>
                </a:lnSpc>
                <a:spcBef>
                  <a:spcPts val="0"/>
                </a:spcBef>
                <a:spcAft>
                  <a:spcPts val="0"/>
                </a:spcAft>
                <a:buClr>
                  <a:srgbClr val="737373"/>
                </a:buClr>
                <a:buSzPts val="1000"/>
                <a:buFont typeface="Roboto"/>
                <a:buNone/>
                <a:tabLst/>
                <a:defRPr/>
              </a:pPr>
              <a:t>5</a:t>
            </a:fld>
            <a:endParaRPr kumimoji="0" lang="en-US" sz="1100" b="0" i="0" u="none" strike="noStrike" kern="0" cap="none" spc="0" normalizeH="0" baseline="0" noProof="0" dirty="0">
              <a:ln>
                <a:noFill/>
              </a:ln>
              <a:solidFill>
                <a:srgbClr val="737373"/>
              </a:solidFill>
              <a:effectLst/>
              <a:uLnTx/>
              <a:uFillTx/>
              <a:latin typeface="Open Sans Medium"/>
              <a:ea typeface="Open Sans Medium"/>
              <a:cs typeface="Open Sans Medium"/>
              <a:sym typeface="Open Sans Medium"/>
            </a:endParaRPr>
          </a:p>
        </p:txBody>
      </p:sp>
    </p:spTree>
    <p:extLst>
      <p:ext uri="{BB962C8B-B14F-4D97-AF65-F5344CB8AC3E}">
        <p14:creationId xmlns:p14="http://schemas.microsoft.com/office/powerpoint/2010/main" val="34710972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8">
          <a:extLst>
            <a:ext uri="{FF2B5EF4-FFF2-40B4-BE49-F238E27FC236}">
              <a16:creationId xmlns:a16="http://schemas.microsoft.com/office/drawing/2014/main" id="{D07583A1-42AD-5036-D05C-4A66EF5CF64A}"/>
            </a:ext>
          </a:extLst>
        </p:cNvPr>
        <p:cNvGrpSpPr/>
        <p:nvPr/>
      </p:nvGrpSpPr>
      <p:grpSpPr>
        <a:xfrm>
          <a:off x="0" y="0"/>
          <a:ext cx="0" cy="0"/>
          <a:chOff x="0" y="0"/>
          <a:chExt cx="0" cy="0"/>
        </a:xfrm>
      </p:grpSpPr>
      <p:sp>
        <p:nvSpPr>
          <p:cNvPr id="69" name="Google Shape;69;p12">
            <a:extLst>
              <a:ext uri="{FF2B5EF4-FFF2-40B4-BE49-F238E27FC236}">
                <a16:creationId xmlns:a16="http://schemas.microsoft.com/office/drawing/2014/main" id="{3A862EC5-80EE-D0BE-6950-881788CE728B}"/>
              </a:ext>
            </a:extLst>
          </p:cNvPr>
          <p:cNvSpPr txBox="1">
            <a:spLocks noGrp="1"/>
          </p:cNvSpPr>
          <p:nvPr>
            <p:ph type="title"/>
          </p:nvPr>
        </p:nvSpPr>
        <p:spPr>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latin typeface="Inter"/>
                <a:ea typeface="Inter"/>
                <a:cs typeface="Inter"/>
                <a:sym typeface="Inter"/>
              </a:rPr>
              <a:t>Agenda: Session 1</a:t>
            </a:r>
            <a:endParaRPr sz="2400" i="0" u="none" strike="noStrike" cap="none" dirty="0">
              <a:solidFill>
                <a:schemeClr val="lt1"/>
              </a:solidFill>
              <a:latin typeface="Inter"/>
              <a:ea typeface="Inter"/>
              <a:cs typeface="Inter"/>
              <a:sym typeface="Inter"/>
            </a:endParaRPr>
          </a:p>
        </p:txBody>
      </p:sp>
      <p:sp>
        <p:nvSpPr>
          <p:cNvPr id="2" name="Slide Number Placeholder 1">
            <a:extLst>
              <a:ext uri="{FF2B5EF4-FFF2-40B4-BE49-F238E27FC236}">
                <a16:creationId xmlns:a16="http://schemas.microsoft.com/office/drawing/2014/main" id="{CD06C171-096C-CA5B-4C5D-236D36DE604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6</a:t>
            </a:fld>
            <a:endParaRPr lang="en-US"/>
          </a:p>
        </p:txBody>
      </p:sp>
      <p:pic>
        <p:nvPicPr>
          <p:cNvPr id="5" name="Picture 4">
            <a:extLst>
              <a:ext uri="{FF2B5EF4-FFF2-40B4-BE49-F238E27FC236}">
                <a16:creationId xmlns:a16="http://schemas.microsoft.com/office/drawing/2014/main" id="{0A3BAF73-6291-808C-D649-3286010A1023}"/>
              </a:ext>
            </a:extLst>
          </p:cNvPr>
          <p:cNvPicPr>
            <a:picLocks noChangeAspect="1"/>
          </p:cNvPicPr>
          <p:nvPr/>
        </p:nvPicPr>
        <p:blipFill>
          <a:blip r:embed="rId3"/>
          <a:stretch>
            <a:fillRect/>
          </a:stretch>
        </p:blipFill>
        <p:spPr>
          <a:xfrm>
            <a:off x="352000" y="1414996"/>
            <a:ext cx="8450394" cy="2062299"/>
          </a:xfrm>
          <a:prstGeom prst="rect">
            <a:avLst/>
          </a:prstGeom>
        </p:spPr>
      </p:pic>
    </p:spTree>
    <p:extLst>
      <p:ext uri="{BB962C8B-B14F-4D97-AF65-F5344CB8AC3E}">
        <p14:creationId xmlns:p14="http://schemas.microsoft.com/office/powerpoint/2010/main" val="38738701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8">
          <a:extLst>
            <a:ext uri="{FF2B5EF4-FFF2-40B4-BE49-F238E27FC236}">
              <a16:creationId xmlns:a16="http://schemas.microsoft.com/office/drawing/2014/main" id="{0B82840E-8823-51A0-8E43-3C993C1B0B9C}"/>
            </a:ext>
          </a:extLst>
        </p:cNvPr>
        <p:cNvGrpSpPr/>
        <p:nvPr/>
      </p:nvGrpSpPr>
      <p:grpSpPr>
        <a:xfrm>
          <a:off x="0" y="0"/>
          <a:ext cx="0" cy="0"/>
          <a:chOff x="0" y="0"/>
          <a:chExt cx="0" cy="0"/>
        </a:xfrm>
      </p:grpSpPr>
      <p:pic>
        <p:nvPicPr>
          <p:cNvPr id="11" name="Picture 10" descr="A screenshot of a computer&#10;&#10;AI-generated content may be incorrect.">
            <a:extLst>
              <a:ext uri="{FF2B5EF4-FFF2-40B4-BE49-F238E27FC236}">
                <a16:creationId xmlns:a16="http://schemas.microsoft.com/office/drawing/2014/main" id="{9E310682-4611-83BF-D44B-68AE8B9060A8}"/>
              </a:ext>
            </a:extLst>
          </p:cNvPr>
          <p:cNvPicPr>
            <a:picLocks noChangeAspect="1"/>
          </p:cNvPicPr>
          <p:nvPr/>
        </p:nvPicPr>
        <p:blipFill>
          <a:blip r:embed="rId3"/>
          <a:stretch>
            <a:fillRect/>
          </a:stretch>
        </p:blipFill>
        <p:spPr>
          <a:xfrm>
            <a:off x="1" y="722269"/>
            <a:ext cx="7251590" cy="4421231"/>
          </a:xfrm>
          <a:prstGeom prst="rect">
            <a:avLst/>
          </a:prstGeom>
        </p:spPr>
      </p:pic>
      <p:sp>
        <p:nvSpPr>
          <p:cNvPr id="69" name="Google Shape;69;p12">
            <a:extLst>
              <a:ext uri="{FF2B5EF4-FFF2-40B4-BE49-F238E27FC236}">
                <a16:creationId xmlns:a16="http://schemas.microsoft.com/office/drawing/2014/main" id="{379F77B1-2B3F-CAA6-FB67-67C4478615FD}"/>
              </a:ext>
            </a:extLst>
          </p:cNvPr>
          <p:cNvSpPr txBox="1">
            <a:spLocks noGrp="1"/>
          </p:cNvSpPr>
          <p:nvPr>
            <p:ph type="title"/>
          </p:nvPr>
        </p:nvSpPr>
        <p:spPr>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latin typeface="Inter"/>
                <a:ea typeface="Inter"/>
                <a:cs typeface="Inter"/>
                <a:sym typeface="Inter"/>
              </a:rPr>
              <a:t>Document Status</a:t>
            </a:r>
            <a:endParaRPr sz="2400" i="0" u="none" strike="noStrike" cap="none" dirty="0">
              <a:solidFill>
                <a:schemeClr val="lt1"/>
              </a:solidFill>
              <a:latin typeface="Inter"/>
              <a:ea typeface="Inter"/>
              <a:cs typeface="Inter"/>
              <a:sym typeface="Inter"/>
            </a:endParaRPr>
          </a:p>
        </p:txBody>
      </p:sp>
      <p:sp>
        <p:nvSpPr>
          <p:cNvPr id="6" name="Bulle narrative : ronde 8">
            <a:extLst>
              <a:ext uri="{FF2B5EF4-FFF2-40B4-BE49-F238E27FC236}">
                <a16:creationId xmlns:a16="http://schemas.microsoft.com/office/drawing/2014/main" id="{7810E069-5DC9-93DB-6EE3-4270F84AFED9}"/>
              </a:ext>
            </a:extLst>
          </p:cNvPr>
          <p:cNvSpPr/>
          <p:nvPr/>
        </p:nvSpPr>
        <p:spPr>
          <a:xfrm>
            <a:off x="7325439" y="3637074"/>
            <a:ext cx="1343250" cy="921123"/>
          </a:xfrm>
          <a:prstGeom prst="wedgeEllipseCallout">
            <a:avLst>
              <a:gd name="adj1" fmla="val -192507"/>
              <a:gd name="adj2" fmla="val 61234"/>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accent4"/>
                </a:solidFill>
              </a:rPr>
              <a:t>RFC Editor Queue</a:t>
            </a:r>
          </a:p>
        </p:txBody>
      </p:sp>
      <p:sp>
        <p:nvSpPr>
          <p:cNvPr id="5" name="Bulle narrative : ronde 8">
            <a:extLst>
              <a:ext uri="{FF2B5EF4-FFF2-40B4-BE49-F238E27FC236}">
                <a16:creationId xmlns:a16="http://schemas.microsoft.com/office/drawing/2014/main" id="{E67EEA6E-C123-F5BF-38D5-1E1611E7A6E0}"/>
              </a:ext>
            </a:extLst>
          </p:cNvPr>
          <p:cNvSpPr/>
          <p:nvPr/>
        </p:nvSpPr>
        <p:spPr>
          <a:xfrm>
            <a:off x="7369099" y="2339545"/>
            <a:ext cx="1255930" cy="921123"/>
          </a:xfrm>
          <a:prstGeom prst="wedgeEllipseCallout">
            <a:avLst>
              <a:gd name="adj1" fmla="val -212774"/>
              <a:gd name="adj2" fmla="val -46760"/>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accent4"/>
                </a:solidFill>
              </a:rPr>
              <a:t>WGLC</a:t>
            </a:r>
          </a:p>
          <a:p>
            <a:pPr algn="ctr"/>
            <a:r>
              <a:rPr lang="fr-FR" sz="1200" dirty="0" err="1">
                <a:solidFill>
                  <a:schemeClr val="accent4"/>
                </a:solidFill>
              </a:rPr>
              <a:t>completed</a:t>
            </a:r>
            <a:endParaRPr lang="fr-FR" sz="1200" dirty="0">
              <a:solidFill>
                <a:schemeClr val="accent4"/>
              </a:solidFill>
            </a:endParaRPr>
          </a:p>
        </p:txBody>
      </p:sp>
      <p:sp>
        <p:nvSpPr>
          <p:cNvPr id="9" name="Bulle narrative : ronde 8">
            <a:extLst>
              <a:ext uri="{FF2B5EF4-FFF2-40B4-BE49-F238E27FC236}">
                <a16:creationId xmlns:a16="http://schemas.microsoft.com/office/drawing/2014/main" id="{50BBA8CB-30AB-A916-E5F5-F7F3B5B40157}"/>
              </a:ext>
            </a:extLst>
          </p:cNvPr>
          <p:cNvSpPr/>
          <p:nvPr/>
        </p:nvSpPr>
        <p:spPr>
          <a:xfrm>
            <a:off x="7325439" y="1330754"/>
            <a:ext cx="1343250" cy="921123"/>
          </a:xfrm>
          <a:prstGeom prst="wedgeEllipseCallout">
            <a:avLst>
              <a:gd name="adj1" fmla="val -239468"/>
              <a:gd name="adj2" fmla="val 18121"/>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dirty="0" err="1">
                <a:solidFill>
                  <a:schemeClr val="accent4"/>
                </a:solidFill>
              </a:rPr>
              <a:t>Adopted</a:t>
            </a:r>
            <a:r>
              <a:rPr lang="fr-FR" sz="1200" dirty="0">
                <a:solidFill>
                  <a:schemeClr val="accent4"/>
                </a:solidFill>
              </a:rPr>
              <a:t> </a:t>
            </a:r>
            <a:r>
              <a:rPr lang="fr-FR" sz="1200" dirty="0" err="1">
                <a:solidFill>
                  <a:schemeClr val="accent4"/>
                </a:solidFill>
              </a:rPr>
              <a:t>since</a:t>
            </a:r>
            <a:r>
              <a:rPr lang="fr-FR" sz="1200" dirty="0">
                <a:solidFill>
                  <a:schemeClr val="accent4"/>
                </a:solidFill>
              </a:rPr>
              <a:t> </a:t>
            </a:r>
          </a:p>
          <a:p>
            <a:pPr algn="ctr"/>
            <a:r>
              <a:rPr lang="fr-FR" sz="1200" dirty="0">
                <a:solidFill>
                  <a:schemeClr val="accent4"/>
                </a:solidFill>
              </a:rPr>
              <a:t>IETF 124</a:t>
            </a:r>
          </a:p>
        </p:txBody>
      </p:sp>
      <p:sp>
        <p:nvSpPr>
          <p:cNvPr id="2" name="Slide Number Placeholder 1">
            <a:extLst>
              <a:ext uri="{FF2B5EF4-FFF2-40B4-BE49-F238E27FC236}">
                <a16:creationId xmlns:a16="http://schemas.microsoft.com/office/drawing/2014/main" id="{6E72AC35-771D-1C2B-0578-89488CAFEE3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a:t>
            </a:fld>
            <a:endParaRPr lang="en-US"/>
          </a:p>
        </p:txBody>
      </p:sp>
    </p:spTree>
    <p:extLst>
      <p:ext uri="{BB962C8B-B14F-4D97-AF65-F5344CB8AC3E}">
        <p14:creationId xmlns:p14="http://schemas.microsoft.com/office/powerpoint/2010/main" val="24451872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8">
          <a:extLst>
            <a:ext uri="{FF2B5EF4-FFF2-40B4-BE49-F238E27FC236}">
              <a16:creationId xmlns:a16="http://schemas.microsoft.com/office/drawing/2014/main" id="{88CB9E5A-4BCD-3230-FEAB-A29C5726CC5C}"/>
            </a:ext>
          </a:extLst>
        </p:cNvPr>
        <p:cNvGrpSpPr/>
        <p:nvPr/>
      </p:nvGrpSpPr>
      <p:grpSpPr>
        <a:xfrm>
          <a:off x="0" y="0"/>
          <a:ext cx="0" cy="0"/>
          <a:chOff x="0" y="0"/>
          <a:chExt cx="0" cy="0"/>
        </a:xfrm>
      </p:grpSpPr>
      <p:pic>
        <p:nvPicPr>
          <p:cNvPr id="6" name="Picture 5" descr="A screenshot of a computer&#10;&#10;AI-generated content may be incorrect.">
            <a:extLst>
              <a:ext uri="{FF2B5EF4-FFF2-40B4-BE49-F238E27FC236}">
                <a16:creationId xmlns:a16="http://schemas.microsoft.com/office/drawing/2014/main" id="{8D6D560B-7609-16AA-9338-C28B483AA08C}"/>
              </a:ext>
            </a:extLst>
          </p:cNvPr>
          <p:cNvPicPr>
            <a:picLocks noChangeAspect="1"/>
          </p:cNvPicPr>
          <p:nvPr/>
        </p:nvPicPr>
        <p:blipFill>
          <a:blip r:embed="rId3"/>
          <a:stretch>
            <a:fillRect/>
          </a:stretch>
        </p:blipFill>
        <p:spPr>
          <a:xfrm>
            <a:off x="0" y="764084"/>
            <a:ext cx="6639339" cy="3960714"/>
          </a:xfrm>
          <a:prstGeom prst="rect">
            <a:avLst/>
          </a:prstGeom>
        </p:spPr>
      </p:pic>
      <p:sp>
        <p:nvSpPr>
          <p:cNvPr id="69" name="Google Shape;69;p12">
            <a:extLst>
              <a:ext uri="{FF2B5EF4-FFF2-40B4-BE49-F238E27FC236}">
                <a16:creationId xmlns:a16="http://schemas.microsoft.com/office/drawing/2014/main" id="{2A43BCAF-5DA5-B0AC-C636-6A1E6CC4BC91}"/>
              </a:ext>
            </a:extLst>
          </p:cNvPr>
          <p:cNvSpPr txBox="1">
            <a:spLocks noGrp="1"/>
          </p:cNvSpPr>
          <p:nvPr>
            <p:ph type="title"/>
          </p:nvPr>
        </p:nvSpPr>
        <p:spPr>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dirty="0">
                <a:latin typeface="Inter"/>
                <a:ea typeface="Inter"/>
                <a:cs typeface="Inter"/>
                <a:sym typeface="Inter"/>
              </a:rPr>
              <a:t>Milestones</a:t>
            </a:r>
            <a:endParaRPr sz="2400" i="0" u="none" strike="noStrike" cap="none" dirty="0">
              <a:solidFill>
                <a:schemeClr val="lt1"/>
              </a:solidFill>
              <a:latin typeface="Inter"/>
              <a:ea typeface="Inter"/>
              <a:cs typeface="Inter"/>
              <a:sym typeface="Inter"/>
            </a:endParaRPr>
          </a:p>
        </p:txBody>
      </p:sp>
      <p:sp>
        <p:nvSpPr>
          <p:cNvPr id="2" name="Espace réservé du numéro de diapositive 3">
            <a:extLst>
              <a:ext uri="{FF2B5EF4-FFF2-40B4-BE49-F238E27FC236}">
                <a16:creationId xmlns:a16="http://schemas.microsoft.com/office/drawing/2014/main" id="{716BD65A-A7D1-C93B-D733-28C06AEAEA7B}"/>
              </a:ext>
            </a:extLst>
          </p:cNvPr>
          <p:cNvSpPr>
            <a:spLocks noGrp="1"/>
          </p:cNvSpPr>
          <p:nvPr>
            <p:ph type="sldNum" idx="12"/>
          </p:nvPr>
        </p:nvSpPr>
        <p:spPr>
          <a:xfrm>
            <a:off x="8735428" y="4724798"/>
            <a:ext cx="336813" cy="335251"/>
          </a:xfrm>
        </p:spPr>
        <p:txBody>
          <a:bodyPr/>
          <a:lstStyle/>
          <a:p>
            <a:pPr marL="0" lvl="0" indent="0" algn="r" rtl="0">
              <a:spcBef>
                <a:spcPts val="0"/>
              </a:spcBef>
              <a:spcAft>
                <a:spcPts val="0"/>
              </a:spcAft>
              <a:buNone/>
            </a:pPr>
            <a:fld id="{00000000-1234-1234-1234-123412341234}" type="slidenum">
              <a:rPr lang="en-US" smtClean="0"/>
              <a:t>8</a:t>
            </a:fld>
            <a:endParaRPr lang="en-US"/>
          </a:p>
        </p:txBody>
      </p:sp>
      <p:sp>
        <p:nvSpPr>
          <p:cNvPr id="4" name="ZoneTexte 6">
            <a:extLst>
              <a:ext uri="{FF2B5EF4-FFF2-40B4-BE49-F238E27FC236}">
                <a16:creationId xmlns:a16="http://schemas.microsoft.com/office/drawing/2014/main" id="{70A0EB0D-FFD8-257A-C3B2-95B60C879AEF}"/>
              </a:ext>
            </a:extLst>
          </p:cNvPr>
          <p:cNvSpPr txBox="1"/>
          <p:nvPr/>
        </p:nvSpPr>
        <p:spPr>
          <a:xfrm>
            <a:off x="7195738" y="2001856"/>
            <a:ext cx="1734616" cy="307777"/>
          </a:xfrm>
          <a:prstGeom prst="rect">
            <a:avLst/>
          </a:prstGeom>
          <a:noFill/>
        </p:spPr>
        <p:txBody>
          <a:bodyPr wrap="square" rtlCol="0">
            <a:spAutoFit/>
          </a:bodyPr>
          <a:lstStyle/>
          <a:p>
            <a:r>
              <a:rPr lang="fr-FR" dirty="0" err="1">
                <a:solidFill>
                  <a:srgbClr val="00B0F0"/>
                </a:solidFill>
              </a:rPr>
              <a:t>November</a:t>
            </a:r>
            <a:r>
              <a:rPr lang="fr-FR" dirty="0">
                <a:solidFill>
                  <a:srgbClr val="00B0F0"/>
                </a:solidFill>
              </a:rPr>
              <a:t> 2026 </a:t>
            </a:r>
          </a:p>
        </p:txBody>
      </p:sp>
      <p:sp>
        <p:nvSpPr>
          <p:cNvPr id="7" name="Flèche : gauche 7">
            <a:extLst>
              <a:ext uri="{FF2B5EF4-FFF2-40B4-BE49-F238E27FC236}">
                <a16:creationId xmlns:a16="http://schemas.microsoft.com/office/drawing/2014/main" id="{987DD165-3EA1-DE30-8657-AC8F90B5CD0A}"/>
              </a:ext>
            </a:extLst>
          </p:cNvPr>
          <p:cNvSpPr/>
          <p:nvPr/>
        </p:nvSpPr>
        <p:spPr>
          <a:xfrm>
            <a:off x="6391069" y="2038083"/>
            <a:ext cx="804669" cy="235324"/>
          </a:xfrm>
          <a:prstGeom prst="leftArrow">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6">
            <a:extLst>
              <a:ext uri="{FF2B5EF4-FFF2-40B4-BE49-F238E27FC236}">
                <a16:creationId xmlns:a16="http://schemas.microsoft.com/office/drawing/2014/main" id="{5B03F52C-E45F-D4A0-03F7-961B312B0011}"/>
              </a:ext>
            </a:extLst>
          </p:cNvPr>
          <p:cNvSpPr txBox="1"/>
          <p:nvPr/>
        </p:nvSpPr>
        <p:spPr>
          <a:xfrm>
            <a:off x="7195738" y="1323935"/>
            <a:ext cx="1539690" cy="307777"/>
          </a:xfrm>
          <a:prstGeom prst="rect">
            <a:avLst/>
          </a:prstGeom>
          <a:noFill/>
        </p:spPr>
        <p:txBody>
          <a:bodyPr wrap="square" rtlCol="0">
            <a:spAutoFit/>
          </a:bodyPr>
          <a:lstStyle/>
          <a:p>
            <a:r>
              <a:rPr lang="fr-FR" dirty="0">
                <a:solidFill>
                  <a:srgbClr val="00B0F0"/>
                </a:solidFill>
              </a:rPr>
              <a:t>Our </a:t>
            </a:r>
            <a:r>
              <a:rPr lang="fr-FR" dirty="0" err="1">
                <a:solidFill>
                  <a:srgbClr val="00B0F0"/>
                </a:solidFill>
              </a:rPr>
              <a:t>next</a:t>
            </a:r>
            <a:r>
              <a:rPr lang="fr-FR" dirty="0">
                <a:solidFill>
                  <a:srgbClr val="00B0F0"/>
                </a:solidFill>
              </a:rPr>
              <a:t> </a:t>
            </a:r>
            <a:r>
              <a:rPr lang="fr-FR" dirty="0" err="1">
                <a:solidFill>
                  <a:srgbClr val="00B0F0"/>
                </a:solidFill>
              </a:rPr>
              <a:t>target</a:t>
            </a:r>
            <a:endParaRPr lang="fr-FR" dirty="0">
              <a:solidFill>
                <a:srgbClr val="00B0F0"/>
              </a:solidFill>
            </a:endParaRPr>
          </a:p>
        </p:txBody>
      </p:sp>
      <p:sp>
        <p:nvSpPr>
          <p:cNvPr id="12" name="Flèche : gauche 7">
            <a:extLst>
              <a:ext uri="{FF2B5EF4-FFF2-40B4-BE49-F238E27FC236}">
                <a16:creationId xmlns:a16="http://schemas.microsoft.com/office/drawing/2014/main" id="{4482C08A-EB0E-D7DF-7808-723DF4355C3C}"/>
              </a:ext>
            </a:extLst>
          </p:cNvPr>
          <p:cNvSpPr/>
          <p:nvPr/>
        </p:nvSpPr>
        <p:spPr>
          <a:xfrm>
            <a:off x="6391069" y="1360162"/>
            <a:ext cx="804669" cy="235324"/>
          </a:xfrm>
          <a:prstGeom prst="leftArrow">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ZoneTexte 6">
            <a:extLst>
              <a:ext uri="{FF2B5EF4-FFF2-40B4-BE49-F238E27FC236}">
                <a16:creationId xmlns:a16="http://schemas.microsoft.com/office/drawing/2014/main" id="{2E5BCDC2-6B92-ED2D-C725-0E0A92673469}"/>
              </a:ext>
            </a:extLst>
          </p:cNvPr>
          <p:cNvSpPr txBox="1"/>
          <p:nvPr/>
        </p:nvSpPr>
        <p:spPr>
          <a:xfrm>
            <a:off x="7195738" y="2327747"/>
            <a:ext cx="1734616" cy="307777"/>
          </a:xfrm>
          <a:prstGeom prst="rect">
            <a:avLst/>
          </a:prstGeom>
          <a:noFill/>
        </p:spPr>
        <p:txBody>
          <a:bodyPr wrap="square" rtlCol="0">
            <a:spAutoFit/>
          </a:bodyPr>
          <a:lstStyle/>
          <a:p>
            <a:r>
              <a:rPr lang="fr-FR" dirty="0" err="1">
                <a:solidFill>
                  <a:srgbClr val="00B0F0"/>
                </a:solidFill>
              </a:rPr>
              <a:t>November</a:t>
            </a:r>
            <a:r>
              <a:rPr lang="fr-FR" dirty="0">
                <a:solidFill>
                  <a:srgbClr val="00B0F0"/>
                </a:solidFill>
              </a:rPr>
              <a:t> 2026 </a:t>
            </a:r>
          </a:p>
        </p:txBody>
      </p:sp>
      <p:sp>
        <p:nvSpPr>
          <p:cNvPr id="14" name="Flèche : gauche 7">
            <a:extLst>
              <a:ext uri="{FF2B5EF4-FFF2-40B4-BE49-F238E27FC236}">
                <a16:creationId xmlns:a16="http://schemas.microsoft.com/office/drawing/2014/main" id="{F731843A-3705-54E2-5AB0-9F390B2A6C9B}"/>
              </a:ext>
            </a:extLst>
          </p:cNvPr>
          <p:cNvSpPr/>
          <p:nvPr/>
        </p:nvSpPr>
        <p:spPr>
          <a:xfrm>
            <a:off x="6391069" y="2363974"/>
            <a:ext cx="804669" cy="235324"/>
          </a:xfrm>
          <a:prstGeom prst="leftArrow">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6">
            <a:extLst>
              <a:ext uri="{FF2B5EF4-FFF2-40B4-BE49-F238E27FC236}">
                <a16:creationId xmlns:a16="http://schemas.microsoft.com/office/drawing/2014/main" id="{DC70A2FB-01A0-E46E-0EE7-2F6E6965D843}"/>
              </a:ext>
            </a:extLst>
          </p:cNvPr>
          <p:cNvSpPr txBox="1"/>
          <p:nvPr/>
        </p:nvSpPr>
        <p:spPr>
          <a:xfrm>
            <a:off x="7195738" y="1671072"/>
            <a:ext cx="1734616" cy="307777"/>
          </a:xfrm>
          <a:prstGeom prst="rect">
            <a:avLst/>
          </a:prstGeom>
          <a:noFill/>
        </p:spPr>
        <p:txBody>
          <a:bodyPr wrap="square" rtlCol="0">
            <a:spAutoFit/>
          </a:bodyPr>
          <a:lstStyle/>
          <a:p>
            <a:r>
              <a:rPr lang="fr-FR" dirty="0">
                <a:solidFill>
                  <a:srgbClr val="00B0F0"/>
                </a:solidFill>
              </a:rPr>
              <a:t>July 2026 </a:t>
            </a:r>
          </a:p>
        </p:txBody>
      </p:sp>
      <p:sp>
        <p:nvSpPr>
          <p:cNvPr id="9" name="Flèche : gauche 7">
            <a:extLst>
              <a:ext uri="{FF2B5EF4-FFF2-40B4-BE49-F238E27FC236}">
                <a16:creationId xmlns:a16="http://schemas.microsoft.com/office/drawing/2014/main" id="{B311E8CD-04F7-DBC8-231B-CB7F32AA3367}"/>
              </a:ext>
            </a:extLst>
          </p:cNvPr>
          <p:cNvSpPr/>
          <p:nvPr/>
        </p:nvSpPr>
        <p:spPr>
          <a:xfrm>
            <a:off x="6391069" y="1707299"/>
            <a:ext cx="804669" cy="235324"/>
          </a:xfrm>
          <a:prstGeom prst="leftArrow">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92415757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471900" y="218223"/>
            <a:ext cx="8222100" cy="12882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3600"/>
              <a:buFont typeface="Open Sans"/>
              <a:buNone/>
            </a:pPr>
            <a:r>
              <a:rPr lang="en-US" dirty="0"/>
              <a:t>Resources for </a:t>
            </a:r>
            <a:r>
              <a:rPr lang="en-US" sz="3600" b="0" i="0" u="none" strike="noStrike" cap="none" dirty="0">
                <a:solidFill>
                  <a:srgbClr val="FFFFFF"/>
                </a:solidFill>
                <a:latin typeface="Open Sans"/>
                <a:ea typeface="Open Sans"/>
                <a:cs typeface="Open Sans"/>
                <a:sym typeface="Open Sans"/>
              </a:rPr>
              <a:t>IETF </a:t>
            </a:r>
            <a:r>
              <a:rPr lang="en-US" dirty="0"/>
              <a:t>125 </a:t>
            </a:r>
            <a:r>
              <a:rPr lang="de-CH" dirty="0"/>
              <a:t>Shenzhen</a:t>
            </a:r>
            <a:endParaRPr dirty="0"/>
          </a:p>
          <a:p>
            <a:pPr marL="0" marR="0" lvl="0" indent="0" algn="l" rtl="0">
              <a:lnSpc>
                <a:spcPct val="100000"/>
              </a:lnSpc>
              <a:spcBef>
                <a:spcPts val="0"/>
              </a:spcBef>
              <a:spcAft>
                <a:spcPts val="0"/>
              </a:spcAft>
              <a:buClr>
                <a:srgbClr val="FFFFFF"/>
              </a:buClr>
              <a:buSzPts val="3600"/>
              <a:buFont typeface="Open Sans"/>
              <a:buNone/>
            </a:pPr>
            <a:endParaRPr sz="2400" dirty="0">
              <a:solidFill>
                <a:srgbClr val="FFFFFF"/>
              </a:solidFill>
            </a:endParaRPr>
          </a:p>
        </p:txBody>
      </p:sp>
      <p:sp>
        <p:nvSpPr>
          <p:cNvPr id="129" name="Google Shape;129;p23"/>
          <p:cNvSpPr txBox="1">
            <a:spLocks noGrp="1"/>
          </p:cNvSpPr>
          <p:nvPr>
            <p:ph type="body" idx="1"/>
          </p:nvPr>
        </p:nvSpPr>
        <p:spPr>
          <a:xfrm>
            <a:off x="471900" y="1919074"/>
            <a:ext cx="8222100" cy="2710200"/>
          </a:xfrm>
          <a:prstGeom prst="rect">
            <a:avLst/>
          </a:prstGeom>
          <a:noFill/>
          <a:ln>
            <a:noFill/>
          </a:ln>
        </p:spPr>
        <p:txBody>
          <a:bodyPr spcFirstLastPara="1" wrap="square" lIns="91400" tIns="91400" rIns="91400" bIns="91400" anchor="t" anchorCtr="0">
            <a:noAutofit/>
          </a:bodyPr>
          <a:lstStyle/>
          <a:p>
            <a:pPr marL="457200" marR="0" lvl="0" indent="-342900" algn="l" rtl="0">
              <a:lnSpc>
                <a:spcPct val="110000"/>
              </a:lnSpc>
              <a:spcBef>
                <a:spcPts val="300"/>
              </a:spcBef>
              <a:spcAft>
                <a:spcPts val="0"/>
              </a:spcAft>
              <a:buClr>
                <a:srgbClr val="000000"/>
              </a:buClr>
              <a:buSzPts val="1800"/>
              <a:buChar char="●"/>
            </a:pPr>
            <a:r>
              <a:rPr lang="en-US">
                <a:solidFill>
                  <a:srgbClr val="000000"/>
                </a:solidFill>
              </a:rPr>
              <a:t>Agenda</a:t>
            </a:r>
            <a:br>
              <a:rPr lang="en-US" b="1">
                <a:solidFill>
                  <a:srgbClr val="000000"/>
                </a:solidFill>
              </a:rPr>
            </a:br>
            <a:r>
              <a:rPr lang="en-US" u="sng">
                <a:solidFill>
                  <a:schemeClr val="hlink"/>
                </a:solidFill>
                <a:hlinkClick r:id="rId3"/>
              </a:rPr>
              <a:t>https://datatracker.ietf.org/meeting/agenda</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Meetecho and other information:</a:t>
            </a:r>
            <a:br>
              <a:rPr lang="en-US">
                <a:solidFill>
                  <a:srgbClr val="000000"/>
                </a:solidFill>
              </a:rPr>
            </a:br>
            <a:r>
              <a:rPr lang="en-US" u="sng">
                <a:solidFill>
                  <a:schemeClr val="hlink"/>
                </a:solidFill>
                <a:hlinkClick r:id="rId4"/>
              </a:rPr>
              <a:t>https://www.ietf.org/how/meetings/preparation</a:t>
            </a:r>
            <a:r>
              <a:rPr lang="en-US">
                <a:solidFill>
                  <a:srgbClr val="000000"/>
                </a:solidFill>
              </a:rPr>
              <a:t> </a:t>
            </a:r>
            <a:endParaRPr>
              <a:solidFill>
                <a:srgbClr val="000000"/>
              </a:solidFill>
            </a:endParaRPr>
          </a:p>
          <a:p>
            <a:pPr marL="457200" marR="0" lvl="0" indent="-342900" algn="l" rtl="0">
              <a:lnSpc>
                <a:spcPct val="110000"/>
              </a:lnSpc>
              <a:spcBef>
                <a:spcPts val="0"/>
              </a:spcBef>
              <a:spcAft>
                <a:spcPts val="0"/>
              </a:spcAft>
              <a:buClr>
                <a:srgbClr val="000000"/>
              </a:buClr>
              <a:buSzPts val="1800"/>
              <a:buChar char="●"/>
            </a:pPr>
            <a:r>
              <a:rPr lang="en-US">
                <a:solidFill>
                  <a:srgbClr val="000000"/>
                </a:solidFill>
              </a:rPr>
              <a:t>If you need technical assistance, see the Reporting Issues page:</a:t>
            </a:r>
            <a:br>
              <a:rPr lang="en-US">
                <a:solidFill>
                  <a:srgbClr val="000000"/>
                </a:solidFill>
              </a:rPr>
            </a:br>
            <a:r>
              <a:rPr lang="en-US" u="sng">
                <a:solidFill>
                  <a:schemeClr val="hlink"/>
                </a:solidFill>
                <a:hlinkClick r:id="rId5"/>
              </a:rPr>
              <a:t>http://www.ietf.org/how/meetings/issues/</a:t>
            </a:r>
            <a:endParaRPr>
              <a:solidFill>
                <a:srgbClr val="000000"/>
              </a:solidFill>
            </a:endParaRPr>
          </a:p>
        </p:txBody>
      </p:sp>
      <p:sp>
        <p:nvSpPr>
          <p:cNvPr id="130" name="Google Shape;130;p23"/>
          <p:cNvSpPr txBox="1">
            <a:spLocks noGrp="1"/>
          </p:cNvSpPr>
          <p:nvPr>
            <p:ph type="sldNum" idx="12"/>
          </p:nvPr>
        </p:nvSpPr>
        <p:spPr>
          <a:xfrm>
            <a:off x="8694000" y="4724798"/>
            <a:ext cx="378328" cy="335400"/>
          </a:xfrm>
          <a:prstGeom prst="rect">
            <a:avLst/>
          </a:prstGeom>
          <a:noFill/>
          <a:ln>
            <a:noFill/>
          </a:ln>
        </p:spPr>
        <p:txBody>
          <a:bodyPr spcFirstLastPara="1" wrap="square" lIns="91400" tIns="91400" rIns="91400" bIns="91400" anchor="ctr" anchorCtr="0">
            <a:noAutofit/>
          </a:bodyPr>
          <a:lstStyle/>
          <a:p>
            <a:pPr marL="0" lvl="0" indent="0" algn="r" rtl="0">
              <a:spcBef>
                <a:spcPts val="0"/>
              </a:spcBef>
              <a:spcAft>
                <a:spcPts val="0"/>
              </a:spcAft>
              <a:buClr>
                <a:srgbClr val="737373"/>
              </a:buClr>
              <a:buSzPts val="1000"/>
              <a:buFont typeface="Roboto"/>
              <a:buNone/>
            </a:pPr>
            <a:fld id="{00000000-1234-1234-1234-123412341234}" type="slidenum">
              <a:rPr lang="en-US"/>
              <a:t>9</a:t>
            </a:fld>
            <a:endParaRPr dirty="0"/>
          </a:p>
        </p:txBody>
      </p:sp>
    </p:spTree>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07222825-62ea-40f3-96b5-5375c07996e2}" enabled="1" method="Privileged" siteId="{90c7a20a-f34b-40bf-bc48-b9253b6f5d20}" removed="0"/>
  <clbl:label id="{20bd2185-7f4f-483c-8403-3480aaa4171f}" enabled="1" method="Standard" siteId="{72adb271-2fc7-4afe-a5ee-9de6a59f6bfb}" removed="0"/>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otalTime>92</TotalTime>
  <Words>1388</Words>
  <Application>Microsoft Macintosh PowerPoint</Application>
  <PresentationFormat>On-screen Show (16:9)</PresentationFormat>
  <Paragraphs>104</Paragraphs>
  <Slides>9</Slides>
  <Notes>9</Notes>
  <HiddenSlides>1</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9</vt:i4>
      </vt:variant>
    </vt:vector>
  </HeadingPairs>
  <TitlesOfParts>
    <vt:vector size="18" baseType="lpstr">
      <vt:lpstr>Arial</vt:lpstr>
      <vt:lpstr>Inter</vt:lpstr>
      <vt:lpstr>Montserrat</vt:lpstr>
      <vt:lpstr>Open Sans</vt:lpstr>
      <vt:lpstr>Open Sans Medium</vt:lpstr>
      <vt:lpstr>Open Sans SemiBold</vt:lpstr>
      <vt:lpstr>Roboto</vt:lpstr>
      <vt:lpstr>Material</vt:lpstr>
      <vt:lpstr>IETF Template</vt:lpstr>
      <vt:lpstr>Network Management Operations (nmop) WG – Session 1</vt:lpstr>
      <vt:lpstr>Note Well</vt:lpstr>
      <vt:lpstr>Note Really Well</vt:lpstr>
      <vt:lpstr>IETF 125 Meeting Tips</vt:lpstr>
      <vt:lpstr>Notetaker</vt:lpstr>
      <vt:lpstr>Agenda: Session 1</vt:lpstr>
      <vt:lpstr>Document Status</vt:lpstr>
      <vt:lpstr>Milestones</vt:lpstr>
      <vt:lpstr>Resources for IETF 125 Shenzhen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IETF 122 NMOP Chairs Slides</dc:title>
  <dc:creator>BOUCADAIR Mohamed INNOV/NET</dc:creator>
  <cp:lastModifiedBy>Reshad Rahman</cp:lastModifiedBy>
  <cp:revision>17</cp:revision>
  <dcterms:modified xsi:type="dcterms:W3CDTF">2026-03-17T03:45:11Z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readonly">
    <vt:lpwstr/>
  </property>
  <property fmtid="{D5CDD505-2E9C-101B-9397-08002B2CF9AE}" pid="3" name="_change">
    <vt:lpwstr/>
  </property>
  <property fmtid="{D5CDD505-2E9C-101B-9397-08002B2CF9AE}" pid="4" name="_full-control">
    <vt:lpwstr/>
  </property>
  <property fmtid="{D5CDD505-2E9C-101B-9397-08002B2CF9AE}" pid="5" name="sflag">
    <vt:lpwstr>1751475423</vt:lpwstr>
  </property>
</Properties>
</file>